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2927" y="221691"/>
            <a:ext cx="9235440" cy="10178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79929" y="1746250"/>
            <a:ext cx="8232140" cy="2861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63605" y="6430015"/>
            <a:ext cx="241300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irjmets.com/" TargetMode="Externa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8942" y="2017776"/>
            <a:ext cx="8305165" cy="1742439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algn="ctr" marL="268605">
              <a:lnSpc>
                <a:spcPct val="100000"/>
              </a:lnSpc>
              <a:spcBef>
                <a:spcPts val="1019"/>
              </a:spcBef>
            </a:pPr>
            <a:r>
              <a:rPr dirty="0" sz="1800" b="1">
                <a:latin typeface="Times New Roman"/>
                <a:cs typeface="Times New Roman"/>
              </a:rPr>
              <a:t>SCHOOL</a:t>
            </a:r>
            <a:r>
              <a:rPr dirty="0" sz="1800" spc="3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3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ENGINEERING</a:t>
            </a:r>
            <a:endParaRPr sz="1800">
              <a:latin typeface="Times New Roman"/>
              <a:cs typeface="Times New Roman"/>
            </a:endParaRPr>
          </a:p>
          <a:p>
            <a:pPr algn="ctr" marL="248285">
              <a:lnSpc>
                <a:spcPct val="100000"/>
              </a:lnSpc>
              <a:spcBef>
                <a:spcPts val="925"/>
              </a:spcBef>
            </a:pPr>
            <a:r>
              <a:rPr dirty="0" sz="1800" spc="-40" b="1">
                <a:latin typeface="Times New Roman"/>
                <a:cs typeface="Times New Roman"/>
              </a:rPr>
              <a:t>DEPARTMENT</a:t>
            </a:r>
            <a:r>
              <a:rPr dirty="0" sz="1800" spc="-10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OF</a:t>
            </a:r>
            <a:r>
              <a:rPr dirty="0" sz="1800" spc="-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COMPUTER</a:t>
            </a:r>
            <a:r>
              <a:rPr dirty="0" sz="1800" spc="-25" b="1">
                <a:latin typeface="Times New Roman"/>
                <a:cs typeface="Times New Roman"/>
              </a:rPr>
              <a:t> SCIENCE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ENGINEERING</a:t>
            </a:r>
            <a:endParaRPr sz="1800">
              <a:latin typeface="Times New Roman"/>
              <a:cs typeface="Times New Roman"/>
            </a:endParaRPr>
          </a:p>
          <a:p>
            <a:pPr marL="1585595" marR="5080" indent="-1573530">
              <a:lnSpc>
                <a:spcPct val="138300"/>
              </a:lnSpc>
              <a:spcBef>
                <a:spcPts val="1380"/>
              </a:spcBef>
            </a:pPr>
            <a:r>
              <a:rPr dirty="0" sz="1800" spc="-35" b="1">
                <a:latin typeface="Times New Roman"/>
                <a:cs typeface="Times New Roman"/>
              </a:rPr>
              <a:t>HSL-</a:t>
            </a:r>
            <a:r>
              <a:rPr dirty="0" sz="1800" spc="-10" b="1">
                <a:latin typeface="Times New Roman"/>
                <a:cs typeface="Times New Roman"/>
              </a:rPr>
              <a:t>FUSED</a:t>
            </a:r>
            <a:r>
              <a:rPr dirty="0" sz="1800" spc="-11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VISION</a:t>
            </a:r>
            <a:r>
              <a:rPr dirty="0" sz="1800" spc="-114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TRANSFORMER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FOR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MICROPLASTIC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IDENTIFICATION </a:t>
            </a:r>
            <a:r>
              <a:rPr dirty="0" sz="1800" b="1">
                <a:latin typeface="Times New Roman"/>
                <a:cs typeface="Times New Roman"/>
              </a:rPr>
              <a:t>21BEOC32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–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RESEARCH PROJECT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PHASE </a:t>
            </a:r>
            <a:r>
              <a:rPr dirty="0" sz="1800" spc="-10" b="1">
                <a:latin typeface="Times New Roman"/>
                <a:cs typeface="Times New Roman"/>
              </a:rPr>
              <a:t>-</a:t>
            </a:r>
            <a:r>
              <a:rPr dirty="0" sz="1800" spc="-25" b="1">
                <a:latin typeface="Times New Roman"/>
                <a:cs typeface="Times New Roman"/>
              </a:rPr>
              <a:t>II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94344" y="4610480"/>
            <a:ext cx="13690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PRESENTED</a:t>
            </a:r>
            <a:r>
              <a:rPr dirty="0" sz="1400" spc="-8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BY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4344" y="4907660"/>
            <a:ext cx="2146300" cy="1264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 spc="-20" b="1">
                <a:latin typeface="Times New Roman"/>
                <a:cs typeface="Times New Roman"/>
              </a:rPr>
              <a:t>Nirajitha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M(22UEO035)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Pavithra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M(22UEO040)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 spc="-20" b="1">
                <a:latin typeface="Times New Roman"/>
                <a:cs typeface="Times New Roman"/>
              </a:rPr>
              <a:t>Swetha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M(22UEO056)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Swetha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S(22UEO058)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4400" y="6556654"/>
            <a:ext cx="105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767676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8996" y="4715636"/>
            <a:ext cx="3747135" cy="1230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Guided</a:t>
            </a:r>
            <a:r>
              <a:rPr dirty="0" sz="1800" spc="-7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Mrs.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M.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Minu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Sunitha</a:t>
            </a:r>
            <a:r>
              <a:rPr dirty="0" sz="1800" spc="-8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Mary</a:t>
            </a:r>
            <a:r>
              <a:rPr dirty="0" sz="1800" spc="-7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B.E,M.E, </a:t>
            </a:r>
            <a:r>
              <a:rPr dirty="0" sz="1800" spc="-25" b="1">
                <a:latin typeface="Times New Roman"/>
                <a:cs typeface="Times New Roman"/>
              </a:rPr>
              <a:t>Assistant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Professor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/ </a:t>
            </a:r>
            <a:r>
              <a:rPr dirty="0" sz="1800" spc="-25" b="1">
                <a:latin typeface="Times New Roman"/>
                <a:cs typeface="Times New Roman"/>
              </a:rPr>
              <a:t>CSE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600">
                <a:latin typeface="Times New Roman"/>
                <a:cs typeface="Times New Roman"/>
              </a:rPr>
              <a:t>Date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Presentation:30.04.2026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25192" y="958088"/>
            <a:ext cx="8344534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254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Avinashilingam</a:t>
            </a:r>
            <a:r>
              <a:rPr dirty="0" sz="1800" spc="-35"/>
              <a:t> </a:t>
            </a:r>
            <a:r>
              <a:rPr dirty="0" sz="1800"/>
              <a:t>Institute</a:t>
            </a:r>
            <a:r>
              <a:rPr dirty="0" sz="1800" spc="-30"/>
              <a:t> </a:t>
            </a:r>
            <a:r>
              <a:rPr dirty="0" sz="1800"/>
              <a:t>for</a:t>
            </a:r>
            <a:r>
              <a:rPr dirty="0" sz="1800" spc="-45"/>
              <a:t> </a:t>
            </a:r>
            <a:r>
              <a:rPr dirty="0" sz="1800"/>
              <a:t>Home</a:t>
            </a:r>
            <a:r>
              <a:rPr dirty="0" sz="1800" spc="-35"/>
              <a:t> </a:t>
            </a:r>
            <a:r>
              <a:rPr dirty="0" sz="1800"/>
              <a:t>Science</a:t>
            </a:r>
            <a:r>
              <a:rPr dirty="0" sz="1800" spc="-40"/>
              <a:t> </a:t>
            </a:r>
            <a:r>
              <a:rPr dirty="0" sz="1800"/>
              <a:t>and</a:t>
            </a:r>
            <a:r>
              <a:rPr dirty="0" sz="1800" spc="-40"/>
              <a:t> </a:t>
            </a:r>
            <a:r>
              <a:rPr dirty="0" sz="1800"/>
              <a:t>Higher</a:t>
            </a:r>
            <a:r>
              <a:rPr dirty="0" sz="1800" spc="-50"/>
              <a:t> </a:t>
            </a:r>
            <a:r>
              <a:rPr dirty="0" sz="1800"/>
              <a:t>Education</a:t>
            </a:r>
            <a:r>
              <a:rPr dirty="0" sz="1800" spc="-40"/>
              <a:t> </a:t>
            </a:r>
            <a:r>
              <a:rPr dirty="0" sz="1800"/>
              <a:t>for</a:t>
            </a:r>
            <a:r>
              <a:rPr dirty="0" sz="1800" spc="-40"/>
              <a:t> </a:t>
            </a:r>
            <a:r>
              <a:rPr dirty="0" sz="1800" spc="-10"/>
              <a:t>Women </a:t>
            </a:r>
            <a:r>
              <a:rPr dirty="0" sz="1800" b="0">
                <a:latin typeface="Times New Roman"/>
                <a:cs typeface="Times New Roman"/>
              </a:rPr>
              <a:t>Deemed</a:t>
            </a:r>
            <a:r>
              <a:rPr dirty="0" sz="1800" spc="-2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to</a:t>
            </a:r>
            <a:r>
              <a:rPr dirty="0" sz="1800" spc="-1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be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University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Estd.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u/s</a:t>
            </a:r>
            <a:r>
              <a:rPr dirty="0" sz="1800" spc="-2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3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of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UGC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Act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1956,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Category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</a:t>
            </a:r>
            <a:r>
              <a:rPr dirty="0" sz="1800" spc="-2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by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MHRD</a:t>
            </a:r>
            <a:r>
              <a:rPr dirty="0" sz="1800" spc="-1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[now</a:t>
            </a:r>
            <a:r>
              <a:rPr dirty="0" sz="1800" spc="-10" b="0">
                <a:latin typeface="Times New Roman"/>
                <a:cs typeface="Times New Roman"/>
              </a:rPr>
              <a:t> </a:t>
            </a:r>
            <a:r>
              <a:rPr dirty="0" sz="1800" spc="-20" b="0">
                <a:latin typeface="Times New Roman"/>
                <a:cs typeface="Times New Roman"/>
              </a:rPr>
              <a:t>MoE] Re-</a:t>
            </a:r>
            <a:r>
              <a:rPr dirty="0" sz="1800" b="0">
                <a:latin typeface="Times New Roman"/>
                <a:cs typeface="Times New Roman"/>
              </a:rPr>
              <a:t>accredited</a:t>
            </a:r>
            <a:r>
              <a:rPr dirty="0" sz="1800" spc="-5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with</a:t>
            </a:r>
            <a:r>
              <a:rPr dirty="0" sz="1800" spc="-1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A++</a:t>
            </a:r>
            <a:r>
              <a:rPr dirty="0" sz="1800" spc="-1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Grade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by</a:t>
            </a:r>
            <a:r>
              <a:rPr dirty="0" sz="1800" spc="-2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NAAC.</a:t>
            </a:r>
            <a:r>
              <a:rPr dirty="0" sz="1800" spc="-1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CGPA</a:t>
            </a:r>
            <a:r>
              <a:rPr dirty="0" sz="1800" spc="-1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3.65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/4,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Category</a:t>
            </a:r>
            <a:r>
              <a:rPr dirty="0" sz="1800" spc="-2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I</a:t>
            </a:r>
            <a:r>
              <a:rPr dirty="0" sz="1800" spc="-1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by</a:t>
            </a:r>
            <a:r>
              <a:rPr dirty="0" sz="1800" spc="-25" b="0">
                <a:latin typeface="Times New Roman"/>
                <a:cs typeface="Times New Roman"/>
              </a:rPr>
              <a:t> UGC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800" b="0">
                <a:latin typeface="Times New Roman"/>
                <a:cs typeface="Times New Roman"/>
              </a:rPr>
              <a:t>Coimbatore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-</a:t>
            </a:r>
            <a:r>
              <a:rPr dirty="0" sz="1800" spc="-1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641</a:t>
            </a:r>
            <a:r>
              <a:rPr dirty="0" sz="1800" spc="-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043,</a:t>
            </a:r>
            <a:r>
              <a:rPr dirty="0" sz="1800" spc="-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Tamil</a:t>
            </a:r>
            <a:r>
              <a:rPr dirty="0" sz="1800" spc="-1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Nadu, </a:t>
            </a:r>
            <a:r>
              <a:rPr dirty="0" sz="1800" spc="-10" b="0">
                <a:latin typeface="Times New Roman"/>
                <a:cs typeface="Times New Roman"/>
              </a:rPr>
              <a:t>India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8355" y="120781"/>
            <a:ext cx="938066" cy="8270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92726" y="221691"/>
            <a:ext cx="2391410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0"/>
              <a:t>OVERVIEW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066291" y="706842"/>
            <a:ext cx="6831330" cy="5864860"/>
          </a:xfrm>
          <a:prstGeom prst="rect">
            <a:avLst/>
          </a:prstGeom>
        </p:spPr>
        <p:txBody>
          <a:bodyPr wrap="square" lIns="0" tIns="17653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35">
                <a:latin typeface="Times New Roman"/>
                <a:cs typeface="Times New Roman"/>
              </a:rPr>
              <a:t>LITERATURE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REVIEW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PROBLEM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OBJECTIVES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20">
                <a:latin typeface="Times New Roman"/>
                <a:cs typeface="Times New Roman"/>
              </a:rPr>
              <a:t>PROPOSED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BLOCK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DIAGRAM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20">
                <a:latin typeface="Times New Roman"/>
                <a:cs typeface="Times New Roman"/>
              </a:rPr>
              <a:t>TECHNICAL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SPECIFICATIONS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35">
                <a:latin typeface="Times New Roman"/>
                <a:cs typeface="Times New Roman"/>
              </a:rPr>
              <a:t>CONCLUSION</a:t>
            </a:r>
            <a:r>
              <a:rPr dirty="0" sz="2400" spc="-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FUTURE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ENHANCEMENTS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PUBLICATION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9777" y="6420103"/>
            <a:ext cx="105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767676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731" rIns="0" bIns="0" rtlCol="0" vert="horz">
            <a:spAutoFit/>
          </a:bodyPr>
          <a:lstStyle/>
          <a:p>
            <a:pPr marL="3157855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INTRODUCTION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49858" y="1461643"/>
            <a:ext cx="10153015" cy="3731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893444" algn="l"/>
                <a:tab pos="1680845" algn="l"/>
                <a:tab pos="2973705" algn="l"/>
                <a:tab pos="4902200" algn="l"/>
                <a:tab pos="5231130" algn="l"/>
                <a:tab pos="6054090" algn="l"/>
                <a:tab pos="7119620" algn="l"/>
                <a:tab pos="7599680" algn="l"/>
                <a:tab pos="8270240" algn="l"/>
                <a:tab pos="9069070" algn="l"/>
                <a:tab pos="9403080" algn="l"/>
              </a:tabLst>
            </a:pPr>
            <a:r>
              <a:rPr dirty="0" sz="1800" spc="-20">
                <a:latin typeface="Times New Roman"/>
                <a:cs typeface="Times New Roman"/>
              </a:rPr>
              <a:t>Uses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Digital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Holographic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Microscopy(DHM)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to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capture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amplitude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and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phase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images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of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samples particularly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transparent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objects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living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cells.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Applies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HSL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color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space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fusion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richer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representation.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Employs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Transformer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(ViT)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hyperparameter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tuning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augmentation.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latin typeface="Times New Roman"/>
                <a:cs typeface="Times New Roman"/>
              </a:rPr>
              <a:t>Evaluates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performance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accuracy,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precision,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recall,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F1-</a:t>
            </a:r>
            <a:r>
              <a:rPr dirty="0" sz="1800" spc="-10">
                <a:latin typeface="Times New Roman"/>
                <a:cs typeface="Times New Roman"/>
              </a:rPr>
              <a:t>score,AUC,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ROC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curves.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Deploys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trained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Flask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web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classification.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confidence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scores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heatmaps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determine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field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extraction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automation.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7568" y="1186814"/>
          <a:ext cx="11229975" cy="4734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5495"/>
                <a:gridCol w="2580005"/>
                <a:gridCol w="2348865"/>
                <a:gridCol w="2694940"/>
                <a:gridCol w="2731770"/>
              </a:tblGrid>
              <a:tr h="7118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S.NO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AUTHORS</a:t>
                      </a:r>
                      <a:r>
                        <a:rPr dirty="0" sz="16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YEAR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42875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128395" algn="l"/>
                          <a:tab pos="1776095" algn="l"/>
                        </a:tabLst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PAPER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METHODOLOGY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INFERENCE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1.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478155" algn="l"/>
                          <a:tab pos="1897380" algn="l"/>
                          <a:tab pos="2265045" algn="l"/>
                        </a:tabLst>
                      </a:pP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Chokchaitam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35" b="1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al.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(2024)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69215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286510" algn="l"/>
                          <a:tab pos="1364615" algn="l"/>
                          <a:tab pos="1452880" algn="l"/>
                          <a:tab pos="1545590" algn="l"/>
                          <a:tab pos="1861185" algn="l"/>
                        </a:tabLst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Enhancing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Automatic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Microplastic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			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Density Separation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40" b="1">
                          <a:latin typeface="Times New Roman"/>
                          <a:cs typeface="Times New Roman"/>
                        </a:rPr>
                        <a:t>HSV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dirty="0" sz="16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Processing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827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149350" algn="l"/>
                          <a:tab pos="1339850" algn="l"/>
                          <a:tab pos="1548765" algn="l"/>
                          <a:tab pos="1943735" algn="l"/>
                          <a:tab pos="2047875" algn="l"/>
                        </a:tabLst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Combined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			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density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separation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3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HSV </a:t>
                      </a:r>
                      <a:r>
                        <a:rPr dirty="0" sz="1600" spc="-40" b="1">
                          <a:latin typeface="Times New Roman"/>
                          <a:cs typeface="Times New Roman"/>
                        </a:rPr>
                        <a:t>color-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				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image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automated microplastic</a:t>
                      </a:r>
                      <a:r>
                        <a:rPr dirty="0" sz="16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detection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805305" algn="l"/>
                        </a:tabLst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detection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710" marR="130175">
                        <a:lnSpc>
                          <a:spcPct val="100000"/>
                        </a:lnSpc>
                        <a:tabLst>
                          <a:tab pos="1804035" algn="l"/>
                        </a:tabLst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framework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validated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against</a:t>
                      </a:r>
                      <a:r>
                        <a:rPr dirty="0" sz="1600" spc="-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expert</a:t>
                      </a:r>
                      <a:r>
                        <a:rPr dirty="0" sz="16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observations. Limitations: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710" marR="28321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HSV</a:t>
                      </a:r>
                      <a:r>
                        <a:rPr dirty="0" sz="16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sensitivity</a:t>
                      </a:r>
                      <a:r>
                        <a:rPr dirty="0" sz="16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affected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lighting.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10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2.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06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Primpke,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S.,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(2023)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82245">
                        <a:lnSpc>
                          <a:spcPct val="100000"/>
                        </a:lnSpc>
                        <a:spcBef>
                          <a:spcPts val="259"/>
                        </a:spcBef>
                        <a:tabLst>
                          <a:tab pos="991235" algn="l"/>
                          <a:tab pos="145732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Microplastic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Identification</a:t>
                      </a:r>
                      <a:r>
                        <a:rPr dirty="0" sz="160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600" spc="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FTIR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Imaging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Machine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Learning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0485">
                        <a:lnSpc>
                          <a:spcPct val="100000"/>
                        </a:lnSpc>
                        <a:spcBef>
                          <a:spcPts val="259"/>
                        </a:spcBef>
                        <a:tabLst>
                          <a:tab pos="1163320" algn="l"/>
                          <a:tab pos="1361440" algn="l"/>
                          <a:tab pos="1619250" algn="l"/>
                          <a:tab pos="1934845" algn="l"/>
                          <a:tab pos="2108835" algn="l"/>
                          <a:tab pos="238315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Combined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	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FTIR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spectroscopy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machine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microplastic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detection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710" marR="74930">
                        <a:lnSpc>
                          <a:spcPct val="100000"/>
                        </a:lnSpc>
                        <a:spcBef>
                          <a:spcPts val="259"/>
                        </a:spcBef>
                        <a:tabLst>
                          <a:tab pos="1019175" algn="l"/>
                          <a:tab pos="1877060" algn="l"/>
                        </a:tabLst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1600" spc="37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1600" spc="36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analysis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improved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reliability.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Limitations: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tabLst>
                          <a:tab pos="1236980" algn="l"/>
                          <a:tab pos="1614805" algn="l"/>
                          <a:tab pos="226123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Dependent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FTIR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data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quality.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28008" y="291795"/>
            <a:ext cx="445770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30"/>
              <a:t>LITERATURE</a:t>
            </a:r>
            <a:r>
              <a:rPr dirty="0" sz="3200" spc="-145"/>
              <a:t> </a:t>
            </a:r>
            <a:r>
              <a:rPr dirty="0" sz="3200" spc="-10"/>
              <a:t>REVIEW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8576" y="602487"/>
          <a:ext cx="11161395" cy="5013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340"/>
                <a:gridCol w="2876550"/>
                <a:gridCol w="2254885"/>
                <a:gridCol w="2647950"/>
                <a:gridCol w="2604134"/>
              </a:tblGrid>
              <a:tr h="17373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3.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4935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1685289" algn="l"/>
                          <a:tab pos="2142490" algn="l"/>
                          <a:tab pos="2562225" algn="l"/>
                        </a:tabLst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Coronel-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León,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J.,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al.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(2023)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44145">
                        <a:lnSpc>
                          <a:spcPct val="107800"/>
                        </a:lnSpc>
                        <a:spcBef>
                          <a:spcPts val="100"/>
                        </a:spcBef>
                        <a:tabLst>
                          <a:tab pos="1140460" algn="l"/>
                          <a:tab pos="187007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Microplastic</a:t>
                      </a:r>
                      <a:r>
                        <a:rPr dirty="0" sz="16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6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Marine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Samples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1755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800735" algn="l"/>
                          <a:tab pos="1332230" algn="l"/>
                          <a:tab pos="1503045" algn="l"/>
                          <a:tab pos="1994535" algn="l"/>
                          <a:tab pos="2280920" algn="l"/>
                          <a:tab pos="235521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CNN-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microscopic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RGB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images with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augmentation.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5565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1242695" algn="l"/>
                          <a:tab pos="1675764" algn="l"/>
                          <a:tab pos="1828164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detection accuracy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marine</a:t>
                      </a:r>
                      <a:r>
                        <a:rPr dirty="0" sz="16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backgrounds.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Limitations: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139065">
                        <a:lnSpc>
                          <a:spcPct val="100000"/>
                        </a:lnSpc>
                        <a:tabLst>
                          <a:tab pos="709295" algn="l"/>
                          <a:tab pos="1238250" algn="l"/>
                          <a:tab pos="2108835" algn="l"/>
                        </a:tabLst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struggle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marine</a:t>
                      </a:r>
                      <a:r>
                        <a:rPr dirty="0" sz="16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samples.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98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4.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Maes,</a:t>
                      </a:r>
                      <a:r>
                        <a:rPr dirty="0" sz="16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T.,</a:t>
                      </a:r>
                      <a:r>
                        <a:rPr dirty="0" sz="16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(2022)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1440" marR="1473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Advances</a:t>
                      </a:r>
                      <a:r>
                        <a:rPr dirty="0" sz="1600" spc="24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600" spc="229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Optical Imaging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Microplastic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Detection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5565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122045" algn="l"/>
                          <a:tab pos="1548765" algn="l"/>
                          <a:tab pos="2015489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Reviewed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optical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imaging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techniques,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76835">
                        <a:lnSpc>
                          <a:spcPct val="100000"/>
                        </a:lnSpc>
                        <a:tabLst>
                          <a:tab pos="1635760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emphasizing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multimodal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approaches.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4295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255395" algn="l"/>
                          <a:tab pos="1764030" algn="l"/>
                          <a:tab pos="185229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Combining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imaging modalities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improve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accuracy.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Limitations: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160020">
                        <a:lnSpc>
                          <a:spcPct val="100000"/>
                        </a:lnSpc>
                        <a:tabLst>
                          <a:tab pos="1245870" algn="l"/>
                          <a:tab pos="189039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optical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imaging.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6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5.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Park,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H.,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(2022)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28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Resolution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Imaging and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60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Microplastic Classification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4930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186180" algn="l"/>
                          <a:tab pos="1338580" algn="l"/>
                          <a:tab pos="2101215" algn="l"/>
                          <a:tab pos="2212340" algn="l"/>
                        </a:tabLst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resolution microscopy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ResNet-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model.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210756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75565">
                        <a:lnSpc>
                          <a:spcPct val="100000"/>
                        </a:lnSpc>
                        <a:tabLst>
                          <a:tab pos="1383030" algn="l"/>
                          <a:tab pos="232219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lab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datasets.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Limitations: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1215390" algn="l"/>
                          <a:tab pos="224726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high-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res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equipment.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8833" y="540766"/>
          <a:ext cx="11319510" cy="5463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8025"/>
                <a:gridCol w="2857500"/>
                <a:gridCol w="2432050"/>
                <a:gridCol w="2490470"/>
                <a:gridCol w="2741929"/>
              </a:tblGrid>
              <a:tr h="17151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6.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8745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232535" algn="l"/>
                          <a:tab pos="1647189" algn="l"/>
                          <a:tab pos="2171700" algn="l"/>
                          <a:tab pos="2543810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Rochman,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C.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M.,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al.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(2021)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698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600" spc="34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600" spc="35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Microplastic</a:t>
                      </a:r>
                      <a:r>
                        <a:rPr dirty="0" sz="1600" spc="36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Pollution Monitoring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366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954405" algn="l"/>
                          <a:tab pos="981710" algn="l"/>
                          <a:tab pos="1414780" algn="l"/>
                          <a:tab pos="1805305" algn="l"/>
                          <a:tab pos="1841500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ML</a:t>
                      </a:r>
                      <a:r>
                        <a:rPr dirty="0" sz="1600" spc="7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process 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large-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	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image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microplastic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monitoring.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1557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137920" algn="l"/>
                          <a:tab pos="2386330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scalability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environmental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monitoring.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Limitations: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37401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dirty="0" sz="16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dirty="0" sz="16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diverse</a:t>
                      </a:r>
                      <a:r>
                        <a:rPr dirty="0" sz="16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6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images.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73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7.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Xu,</a:t>
                      </a:r>
                      <a:r>
                        <a:rPr dirty="0" sz="16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70">
                          <a:latin typeface="Times New Roman"/>
                          <a:cs typeface="Times New Roman"/>
                        </a:rPr>
                        <a:t>Y.,</a:t>
                      </a:r>
                      <a:r>
                        <a:rPr dirty="0" sz="16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(2021)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76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Vision-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Identification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Microplastics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Using DCNN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600" spc="33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600" spc="34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CNNs</a:t>
                      </a:r>
                      <a:r>
                        <a:rPr dirty="0" sz="1600" spc="33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classify</a:t>
                      </a:r>
                      <a:r>
                        <a:rPr dirty="0" sz="1600" spc="459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microplastics</a:t>
                      </a:r>
                      <a:r>
                        <a:rPr dirty="0" sz="1600" spc="459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mixed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debris</a:t>
                      </a:r>
                      <a:r>
                        <a:rPr dirty="0" sz="1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samples.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723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Managed</a:t>
                      </a:r>
                      <a:r>
                        <a:rPr dirty="0" sz="1600" spc="395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variability</a:t>
                      </a:r>
                      <a:r>
                        <a:rPr dirty="0" sz="1600" spc="39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shape</a:t>
                      </a:r>
                      <a:r>
                        <a:rPr dirty="0" sz="1600" spc="49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275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dirty="0" sz="1600" spc="275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reasonable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accuracy.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Limitations: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1149985" algn="l"/>
                          <a:tab pos="2081530" algn="l"/>
                        </a:tabLst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DCNN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robust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data.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10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8.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4300">
                        <a:lnSpc>
                          <a:spcPct val="100000"/>
                        </a:lnSpc>
                        <a:spcBef>
                          <a:spcPts val="259"/>
                        </a:spcBef>
                        <a:tabLst>
                          <a:tab pos="1586230" algn="l"/>
                          <a:tab pos="2122805" algn="l"/>
                          <a:tab pos="2543810" algn="l"/>
                        </a:tabLst>
                      </a:pP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Erni-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Cassola,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G.,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al.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(2020)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55270">
                        <a:lnSpc>
                          <a:spcPct val="100000"/>
                        </a:lnSpc>
                        <a:spcBef>
                          <a:spcPts val="259"/>
                        </a:spcBef>
                        <a:tabLst>
                          <a:tab pos="523240" algn="l"/>
                          <a:tab pos="980440" algn="l"/>
                        </a:tabLst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Environmental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Microplastic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Analysis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723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600" spc="484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integrating</a:t>
                      </a:r>
                      <a:r>
                        <a:rPr dirty="0" sz="1600" spc="49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600" spc="37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spectroscopy</a:t>
                      </a:r>
                      <a:r>
                        <a:rPr dirty="0" sz="1600" spc="37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imaging</a:t>
                      </a:r>
                      <a:r>
                        <a:rPr dirty="0" sz="1600" spc="33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 spc="34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automated analysis.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00025">
                        <a:lnSpc>
                          <a:spcPct val="100000"/>
                        </a:lnSpc>
                        <a:spcBef>
                          <a:spcPts val="259"/>
                        </a:spcBef>
                        <a:tabLst>
                          <a:tab pos="846455" algn="l"/>
                          <a:tab pos="1166495" algn="l"/>
                          <a:tab pos="169989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Enabled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throughput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fully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automated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microplastic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identification.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Limitations: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113664">
                        <a:lnSpc>
                          <a:spcPct val="100000"/>
                        </a:lnSpc>
                        <a:tabLst>
                          <a:tab pos="1430020" algn="l"/>
                          <a:tab pos="242252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Automation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depends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pipeline.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5075" y="905713"/>
            <a:ext cx="4829810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PROBLEM</a:t>
            </a:r>
            <a:r>
              <a:rPr dirty="0" sz="3300" spc="-40"/>
              <a:t> </a:t>
            </a:r>
            <a:r>
              <a:rPr dirty="0" sz="3300" spc="-35"/>
              <a:t>STATEMENT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47546" y="1900394"/>
            <a:ext cx="9325610" cy="1905000"/>
          </a:xfrm>
          <a:prstGeom prst="rect">
            <a:avLst/>
          </a:prstGeom>
        </p:spPr>
        <p:txBody>
          <a:bodyPr wrap="square" lIns="0" tIns="176530" rIns="0" bIns="0" rtlCol="0" vert="horz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390"/>
              </a:spcBef>
              <a:buChar char="•"/>
              <a:tabLst>
                <a:tab pos="320040" algn="l"/>
              </a:tabLst>
            </a:pP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struggle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distinguish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microplastics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backgrounds.</a:t>
            </a:r>
            <a:endParaRPr sz="20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1295"/>
              </a:spcBef>
              <a:buChar char="•"/>
              <a:tabLst>
                <a:tab pos="320040" algn="l"/>
              </a:tabLst>
            </a:pPr>
            <a:r>
              <a:rPr dirty="0" sz="2000" spc="-10">
                <a:latin typeface="Times New Roman"/>
                <a:cs typeface="Times New Roman"/>
              </a:rPr>
              <a:t>Microplastic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pollution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water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threatens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ecosystems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human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health.</a:t>
            </a:r>
            <a:endParaRPr sz="20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1310"/>
              </a:spcBef>
              <a:buChar char="•"/>
              <a:tabLst>
                <a:tab pos="320040" algn="l"/>
              </a:tabLst>
            </a:pPr>
            <a:r>
              <a:rPr dirty="0" sz="2000">
                <a:latin typeface="Times New Roman"/>
                <a:cs typeface="Times New Roman"/>
              </a:rPr>
              <a:t>Manual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traditional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processing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slow,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error-</a:t>
            </a:r>
            <a:r>
              <a:rPr dirty="0" sz="2000">
                <a:latin typeface="Times New Roman"/>
                <a:cs typeface="Times New Roman"/>
              </a:rPr>
              <a:t>prone,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scalable.</a:t>
            </a:r>
            <a:endParaRPr sz="20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1300"/>
              </a:spcBef>
              <a:buChar char="•"/>
              <a:tabLst>
                <a:tab pos="320040" algn="l"/>
              </a:tabLst>
            </a:pPr>
            <a:r>
              <a:rPr dirty="0" sz="2000">
                <a:latin typeface="Times New Roman"/>
                <a:cs typeface="Times New Roman"/>
              </a:rPr>
              <a:t>Lack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rich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representation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limits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classification</a:t>
            </a:r>
            <a:r>
              <a:rPr dirty="0" sz="2000" spc="-1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accuracy.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1288796" y="1384782"/>
            <a:ext cx="9624060" cy="279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microplastic detection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HSL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color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space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fusion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Vision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Transformer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(ViT)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architecture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classification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water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samples.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Collect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pre-</a:t>
            </a:r>
            <a:r>
              <a:rPr dirty="0" sz="2000">
                <a:latin typeface="Times New Roman"/>
                <a:cs typeface="Times New Roman"/>
              </a:rPr>
              <a:t>processes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amplitude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phase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images,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enhance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feature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Digital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Holographic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Microscopy(DHM).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Deploy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8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trained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model</a:t>
            </a:r>
            <a:r>
              <a:rPr dirty="0" sz="2000" spc="7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8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Flask-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web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9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confidence</a:t>
            </a:r>
            <a:r>
              <a:rPr dirty="0" sz="2000" spc="8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scores</a:t>
            </a:r>
            <a:r>
              <a:rPr dirty="0" sz="2000" spc="85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interpretability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via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heatmaps.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784" rIns="0" bIns="0" rtlCol="0" vert="horz">
            <a:spAutoFit/>
          </a:bodyPr>
          <a:lstStyle/>
          <a:p>
            <a:pPr marL="3154045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OBJECTIVES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7050" y="679450"/>
          <a:ext cx="11214100" cy="5123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8382000"/>
              </a:tblGrid>
              <a:tr h="508000">
                <a:tc>
                  <a:txBody>
                    <a:bodyPr/>
                    <a:lstStyle/>
                    <a:p>
                      <a:pPr marL="8007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Component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Working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8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Collection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362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Aggregates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microscopic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featuring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microplastics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various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shapes,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sizes,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textures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found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environmental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samples.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marL="91440" marR="4343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dirty="0" sz="18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8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Noise Reduction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930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dirty="0" sz="18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Holographic</a:t>
                      </a:r>
                      <a:r>
                        <a:rPr dirty="0" sz="18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Microscopy(DHM)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8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normalization,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reduction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standardize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reliability.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HSL</a:t>
                      </a:r>
                      <a:r>
                        <a:rPr dirty="0" sz="18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dirty="0" sz="18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Enhancement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200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Transforms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Hue,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Saturation,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Lightness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(HSL)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space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better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separate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distinguish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microplastics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noise.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81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dirty="0" sz="18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Extraction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17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Employs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(ViT)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applies</a:t>
                      </a:r>
                      <a:r>
                        <a:rPr dirty="0" sz="18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head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attention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dirty="0" sz="18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8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features.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88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800" spc="-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Evaluation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327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Measures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model's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ability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provide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consistent,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accurate,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conventional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methods.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8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Prediction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microscopic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 predict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presence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microplastic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particles.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22775" y="66243"/>
            <a:ext cx="349440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PROPOSED</a:t>
            </a:r>
            <a:r>
              <a:rPr dirty="0" spc="-160"/>
              <a:t> </a:t>
            </a:r>
            <a:r>
              <a:rPr dirty="0" spc="-10"/>
              <a:t>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33925" y="370459"/>
            <a:ext cx="27139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BLOCK</a:t>
            </a:r>
            <a:r>
              <a:rPr dirty="0" sz="2400" spc="-15"/>
              <a:t> </a:t>
            </a:r>
            <a:r>
              <a:rPr dirty="0" sz="2400" spc="-10"/>
              <a:t>DIAGRAM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486" y="1314069"/>
            <a:ext cx="8018907" cy="396925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709676" y="725195"/>
            <a:ext cx="10370820" cy="5003800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Collection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-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Gather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labeled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microplastic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Kaggle.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Preprocessing</a:t>
            </a:r>
            <a:r>
              <a:rPr dirty="0" sz="2200" spc="-1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-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Resize,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apply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HSL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fusion,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remove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noise,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normalize,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augment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0"/>
              </a:spcBef>
            </a:pPr>
            <a:r>
              <a:rPr dirty="0" sz="2200" spc="-10">
                <a:latin typeface="Times New Roman"/>
                <a:cs typeface="Times New Roman"/>
              </a:rPr>
              <a:t>images.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764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 b="1">
                <a:latin typeface="Times New Roman"/>
                <a:cs typeface="Times New Roman"/>
              </a:rPr>
              <a:t>Feature</a:t>
            </a:r>
            <a:r>
              <a:rPr dirty="0" sz="2200" spc="-114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Extraction-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40">
                <a:latin typeface="Times New Roman"/>
                <a:cs typeface="Times New Roman"/>
              </a:rPr>
              <a:t>ViT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splits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patches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extract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feature.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 b="1">
                <a:latin typeface="Times New Roman"/>
                <a:cs typeface="Times New Roman"/>
              </a:rPr>
              <a:t>Classification-</a:t>
            </a:r>
            <a:r>
              <a:rPr dirty="0" sz="2200" spc="-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 spc="-40">
                <a:latin typeface="Times New Roman"/>
                <a:cs typeface="Times New Roman"/>
              </a:rPr>
              <a:t>pre-</a:t>
            </a:r>
            <a:r>
              <a:rPr dirty="0" sz="2200">
                <a:latin typeface="Times New Roman"/>
                <a:cs typeface="Times New Roman"/>
              </a:rPr>
              <a:t>processed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features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used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classify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input(microplastics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vs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Times New Roman"/>
                <a:cs typeface="Times New Roman"/>
              </a:rPr>
              <a:t>clean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water).</a:t>
            </a:r>
            <a:endParaRPr sz="2200">
              <a:latin typeface="Times New Roman"/>
              <a:cs typeface="Times New Roman"/>
            </a:endParaRPr>
          </a:p>
          <a:p>
            <a:pPr marL="297815" marR="85090" indent="-285750">
              <a:lnSpc>
                <a:spcPct val="151400"/>
              </a:lnSpc>
              <a:spcBef>
                <a:spcPts val="4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 b="1">
                <a:latin typeface="Times New Roman"/>
                <a:cs typeface="Times New Roman"/>
              </a:rPr>
              <a:t>Evaluation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-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Measure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performance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accuracy,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precision,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recall,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F1-</a:t>
            </a:r>
            <a:r>
              <a:rPr dirty="0" sz="2200">
                <a:latin typeface="Times New Roman"/>
                <a:cs typeface="Times New Roman"/>
              </a:rPr>
              <a:t>score,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AUC,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ROC.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35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 b="1">
                <a:latin typeface="Times New Roman"/>
                <a:cs typeface="Times New Roman"/>
              </a:rPr>
              <a:t>Result</a:t>
            </a:r>
            <a:r>
              <a:rPr dirty="0" sz="2200" spc="3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3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Visualization-</a:t>
            </a:r>
            <a:r>
              <a:rPr dirty="0" sz="2200" spc="409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Present</a:t>
            </a:r>
            <a:r>
              <a:rPr dirty="0" sz="2200" spc="4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outcomes</a:t>
            </a:r>
            <a:r>
              <a:rPr dirty="0" sz="2200" spc="4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4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visual</a:t>
            </a:r>
            <a:r>
              <a:rPr dirty="0" sz="2200" spc="3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representation</a:t>
            </a:r>
            <a:r>
              <a:rPr dirty="0" sz="2200" spc="4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3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images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70"/>
              </a:spcBef>
            </a:pP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5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flask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web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application.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02282" y="831850"/>
          <a:ext cx="8263890" cy="5414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794"/>
                <a:gridCol w="3204210"/>
                <a:gridCol w="4069714"/>
              </a:tblGrid>
              <a:tr h="523240">
                <a:tc gridSpan="3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dirty="0" sz="16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SPECIFICATION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32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S.No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Specification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Core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0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Python,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HTML5,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CSS,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Javascript(Front-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for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Flask</a:t>
                      </a:r>
                      <a:r>
                        <a:rPr dirty="0" sz="1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UI)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7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Framework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Flask</a:t>
                      </a:r>
                      <a:r>
                        <a:rPr dirty="0" sz="1600" spc="-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(for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deployment)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8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6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Framework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8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PyTorch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(Vision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dirty="0" sz="16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Model)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8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Libraries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TorchVision,</a:t>
                      </a:r>
                      <a:r>
                        <a:rPr dirty="0" sz="16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NumPy,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Pandas,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Pillow,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OpenCV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Algorithm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HSL-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Fused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dirty="0" sz="16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5">
                          <a:latin typeface="Times New Roman"/>
                          <a:cs typeface="Times New Roman"/>
                        </a:rPr>
                        <a:t>(ViT-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B/16)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Format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Clean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Water</a:t>
                      </a:r>
                      <a:r>
                        <a:rPr dirty="0" sz="1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vs</a:t>
                      </a:r>
                      <a:r>
                        <a:rPr dirty="0" sz="1600" spc="-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Microplastic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Image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Dataset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Weights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ImageNet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Pretrained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ViT</a:t>
                      </a:r>
                      <a:r>
                        <a:rPr dirty="0" sz="1600" spc="-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model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Environment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VS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development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65575" y="250647"/>
            <a:ext cx="453898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TECHNICAL</a:t>
            </a:r>
            <a:r>
              <a:rPr dirty="0" sz="2400" spc="-70"/>
              <a:t> </a:t>
            </a:r>
            <a:r>
              <a:rPr dirty="0" sz="2400" spc="-10"/>
              <a:t>SPECIFICATIONS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79650" y="1593850"/>
          <a:ext cx="8263890" cy="347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794"/>
                <a:gridCol w="3204210"/>
                <a:gridCol w="4069714"/>
              </a:tblGrid>
              <a:tr h="523240">
                <a:tc gridSpan="3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SPECIFICATION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3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S.No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Specification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Processor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(CPU):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0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Intel</a:t>
                      </a:r>
                      <a:r>
                        <a:rPr dirty="0" sz="16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sz="16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i5</a:t>
                      </a:r>
                      <a:r>
                        <a:rPr dirty="0" sz="16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6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i7</a:t>
                      </a:r>
                      <a:r>
                        <a:rPr dirty="0" sz="16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(10th</a:t>
                      </a:r>
                      <a:r>
                        <a:rPr dirty="0" sz="16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Gen</a:t>
                      </a:r>
                      <a:r>
                        <a:rPr dirty="0" sz="16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6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higher)</a:t>
                      </a:r>
                      <a:r>
                        <a:rPr dirty="0" sz="16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6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AMD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Ryzen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(RAM)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GB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GB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Graphics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(GPU):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7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NVIDIA</a:t>
                      </a:r>
                      <a:r>
                        <a:rPr dirty="0" sz="16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GeForce</a:t>
                      </a:r>
                      <a:r>
                        <a:rPr dirty="0" sz="16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GTX</a:t>
                      </a:r>
                      <a:r>
                        <a:rPr dirty="0" sz="16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1650</a:t>
                      </a:r>
                      <a:r>
                        <a:rPr dirty="0" sz="16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6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dirty="0" sz="16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(with CUDA</a:t>
                      </a:r>
                      <a:r>
                        <a:rPr dirty="0" sz="16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support)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Storage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250GB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available</a:t>
                      </a:r>
                      <a:r>
                        <a:rPr dirty="0" sz="16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SSD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space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1282" rIns="0" bIns="0" rtlCol="0" vert="horz">
            <a:spAutoFit/>
          </a:bodyPr>
          <a:lstStyle/>
          <a:p>
            <a:pPr marL="247142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TECHNICAL</a:t>
            </a:r>
            <a:r>
              <a:rPr dirty="0" sz="2400" spc="-70"/>
              <a:t> </a:t>
            </a:r>
            <a:r>
              <a:rPr dirty="0" sz="2400" spc="-10"/>
              <a:t>SPECIFICATIONS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2456433" y="1709166"/>
            <a:ext cx="6341110" cy="36118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latin typeface="Times New Roman"/>
                <a:cs typeface="Times New Roman"/>
              </a:rPr>
              <a:t>MODULE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1: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Collection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Kaggle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2200" spc="-10" b="1">
                <a:latin typeface="Times New Roman"/>
                <a:cs typeface="Times New Roman"/>
              </a:rPr>
              <a:t>MODULE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2: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Preprocessing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Microplastic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Datasets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</a:pPr>
            <a:r>
              <a:rPr dirty="0" sz="2200" b="1">
                <a:latin typeface="Times New Roman"/>
                <a:cs typeface="Times New Roman"/>
              </a:rPr>
              <a:t>MODULE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3: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Feature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Extraction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Microplastic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Images </a:t>
            </a:r>
            <a:r>
              <a:rPr dirty="0" sz="2200" b="1">
                <a:latin typeface="Times New Roman"/>
                <a:cs typeface="Times New Roman"/>
              </a:rPr>
              <a:t>MODULE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4: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Classification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Microplastic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Images </a:t>
            </a:r>
            <a:r>
              <a:rPr dirty="0" sz="2200" spc="-10" b="1">
                <a:latin typeface="Times New Roman"/>
                <a:cs typeface="Times New Roman"/>
              </a:rPr>
              <a:t>MODULE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5: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Evaluation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Classified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Images </a:t>
            </a:r>
            <a:r>
              <a:rPr dirty="0" sz="2200" b="1">
                <a:latin typeface="Times New Roman"/>
                <a:cs typeface="Times New Roman"/>
              </a:rPr>
              <a:t>MODULE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6: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Result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&amp;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Visualization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0306" rIns="0" bIns="0" rtlCol="0" vert="horz">
            <a:spAutoFit/>
          </a:bodyPr>
          <a:lstStyle/>
          <a:p>
            <a:pPr marL="2431415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METHODOLOGIES</a:t>
            </a:r>
            <a:endParaRPr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506" rIns="0" bIns="0" rtlCol="0" vert="horz">
            <a:spAutoFit/>
          </a:bodyPr>
          <a:lstStyle/>
          <a:p>
            <a:pPr marL="1252855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Module</a:t>
            </a:r>
            <a:r>
              <a:rPr dirty="0" sz="3200" spc="-50"/>
              <a:t> </a:t>
            </a:r>
            <a:r>
              <a:rPr dirty="0" sz="3200"/>
              <a:t>1:</a:t>
            </a:r>
            <a:r>
              <a:rPr dirty="0" sz="3200" spc="-55"/>
              <a:t> </a:t>
            </a:r>
            <a:r>
              <a:rPr dirty="0" sz="3200"/>
              <a:t>Data</a:t>
            </a:r>
            <a:r>
              <a:rPr dirty="0" sz="3200" spc="-55"/>
              <a:t> </a:t>
            </a:r>
            <a:r>
              <a:rPr dirty="0" sz="3200"/>
              <a:t>Collection</a:t>
            </a:r>
            <a:r>
              <a:rPr dirty="0" sz="3200" spc="-80"/>
              <a:t> </a:t>
            </a:r>
            <a:r>
              <a:rPr dirty="0" sz="3200"/>
              <a:t>from</a:t>
            </a:r>
            <a:r>
              <a:rPr dirty="0" sz="3200" spc="-65"/>
              <a:t> </a:t>
            </a:r>
            <a:r>
              <a:rPr dirty="0" sz="3200" spc="-10"/>
              <a:t>Kaggle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40358" y="1868576"/>
            <a:ext cx="10129520" cy="252666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385445" indent="-372745">
              <a:lnSpc>
                <a:spcPct val="100000"/>
              </a:lnSpc>
              <a:spcBef>
                <a:spcPts val="1395"/>
              </a:spcBef>
              <a:buChar char="•"/>
              <a:tabLst>
                <a:tab pos="385445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dataset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collected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Kaggle.</a:t>
            </a:r>
            <a:endParaRPr sz="220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295"/>
              </a:spcBef>
              <a:buChar char="•"/>
              <a:tabLst>
                <a:tab pos="390525" algn="l"/>
              </a:tabLst>
            </a:pP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contained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microplastic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particles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clean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water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samples.</a:t>
            </a:r>
            <a:endParaRPr sz="2200">
              <a:latin typeface="Times New Roman"/>
              <a:cs typeface="Times New Roman"/>
            </a:endParaRPr>
          </a:p>
          <a:p>
            <a:pPr marL="385445" indent="-372745">
              <a:lnSpc>
                <a:spcPct val="100000"/>
              </a:lnSpc>
              <a:spcBef>
                <a:spcPts val="1310"/>
              </a:spcBef>
              <a:buChar char="•"/>
              <a:tabLst>
                <a:tab pos="385445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were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organized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binary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classification: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Microplastic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vs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40">
                <a:latin typeface="Times New Roman"/>
                <a:cs typeface="Times New Roman"/>
              </a:rPr>
              <a:t>Non-</a:t>
            </a:r>
            <a:r>
              <a:rPr dirty="0" sz="2200" spc="-10">
                <a:latin typeface="Times New Roman"/>
                <a:cs typeface="Times New Roman"/>
              </a:rPr>
              <a:t>Microplastic.</a:t>
            </a:r>
            <a:endParaRPr sz="2200">
              <a:latin typeface="Times New Roman"/>
              <a:cs typeface="Times New Roman"/>
            </a:endParaRPr>
          </a:p>
          <a:p>
            <a:pPr marL="385445" indent="-372745">
              <a:lnSpc>
                <a:spcPct val="100000"/>
              </a:lnSpc>
              <a:spcBef>
                <a:spcPts val="1295"/>
              </a:spcBef>
              <a:buChar char="•"/>
              <a:tabLst>
                <a:tab pos="385445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dataset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split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training,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validation,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testing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sets.</a:t>
            </a:r>
            <a:endParaRPr sz="220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300"/>
              </a:spcBef>
              <a:buChar char="•"/>
              <a:tabLst>
                <a:tab pos="390525" algn="l"/>
              </a:tabLst>
            </a:pP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open-</a:t>
            </a:r>
            <a:r>
              <a:rPr dirty="0" sz="2200">
                <a:latin typeface="Times New Roman"/>
                <a:cs typeface="Times New Roman"/>
              </a:rPr>
              <a:t>source,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pre-</a:t>
            </a:r>
            <a:r>
              <a:rPr dirty="0" sz="2200">
                <a:latin typeface="Times New Roman"/>
                <a:cs typeface="Times New Roman"/>
              </a:rPr>
              <a:t>labeled,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reliable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microplastic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detection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research.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371600"/>
            <a:ext cx="5508625" cy="31978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3200" y="1349375"/>
            <a:ext cx="5455920" cy="31013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52315" y="4906136"/>
            <a:ext cx="3281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Fig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1: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Collection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Kaggle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1654301" y="1537082"/>
            <a:ext cx="8823325" cy="3032760"/>
          </a:xfrm>
          <a:prstGeom prst="rect">
            <a:avLst/>
          </a:prstGeom>
        </p:spPr>
        <p:txBody>
          <a:bodyPr wrap="square" lIns="0" tIns="1765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collected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were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resized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fixed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dimension.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pixel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values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were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normalized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consistency.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Noise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unwanted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background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details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were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removed.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3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were</a:t>
            </a:r>
            <a:r>
              <a:rPr dirty="0" sz="2200" spc="3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converted</a:t>
            </a:r>
            <a:r>
              <a:rPr dirty="0" sz="2200" spc="3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2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RGB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2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HSL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color</a:t>
            </a:r>
            <a:r>
              <a:rPr dirty="0" sz="2200" spc="2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space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3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better</a:t>
            </a:r>
            <a:r>
              <a:rPr dirty="0" sz="2200" spc="2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feature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dirty="0" sz="2200" spc="-10">
                <a:latin typeface="Times New Roman"/>
                <a:cs typeface="Times New Roman"/>
              </a:rPr>
              <a:t>representation.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preprocessed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dataset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prepared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feature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extraction.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127" rIns="0" bIns="0" rtlCol="0" vert="horz">
            <a:spAutoFit/>
          </a:bodyPr>
          <a:lstStyle/>
          <a:p>
            <a:pPr marL="54737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Module</a:t>
            </a:r>
            <a:r>
              <a:rPr dirty="0" sz="3200" spc="-105"/>
              <a:t> </a:t>
            </a:r>
            <a:r>
              <a:rPr dirty="0" sz="3200"/>
              <a:t>2:</a:t>
            </a:r>
            <a:r>
              <a:rPr dirty="0" sz="3200" spc="-95"/>
              <a:t> </a:t>
            </a:r>
            <a:r>
              <a:rPr dirty="0" sz="3200"/>
              <a:t>Preprocessing</a:t>
            </a:r>
            <a:r>
              <a:rPr dirty="0" sz="3200" spc="-120"/>
              <a:t> </a:t>
            </a:r>
            <a:r>
              <a:rPr dirty="0" sz="3200"/>
              <a:t>of</a:t>
            </a:r>
            <a:r>
              <a:rPr dirty="0" sz="3200" spc="-90"/>
              <a:t> </a:t>
            </a:r>
            <a:r>
              <a:rPr dirty="0" sz="3200"/>
              <a:t>Microplastic</a:t>
            </a:r>
            <a:r>
              <a:rPr dirty="0" sz="3200" spc="-114"/>
              <a:t> </a:t>
            </a:r>
            <a:r>
              <a:rPr dirty="0" sz="3200" spc="-10"/>
              <a:t>Datasets</a:t>
            </a:r>
            <a:endParaRPr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1511553" y="1949558"/>
            <a:ext cx="8907145" cy="2027555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40">
                <a:latin typeface="Times New Roman"/>
                <a:cs typeface="Times New Roman"/>
              </a:rPr>
              <a:t>HSL-</a:t>
            </a:r>
            <a:r>
              <a:rPr dirty="0" sz="2200">
                <a:latin typeface="Times New Roman"/>
                <a:cs typeface="Times New Roman"/>
              </a:rPr>
              <a:t>fused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divided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fixed-</a:t>
            </a:r>
            <a:r>
              <a:rPr dirty="0" sz="2200">
                <a:latin typeface="Times New Roman"/>
                <a:cs typeface="Times New Roman"/>
              </a:rPr>
              <a:t>size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patches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processing.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patch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embedded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token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sequence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positional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encoding.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20">
                <a:latin typeface="Times New Roman"/>
                <a:cs typeface="Times New Roman"/>
              </a:rPr>
              <a:t>Vision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Transformer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applies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45">
                <a:latin typeface="Times New Roman"/>
                <a:cs typeface="Times New Roman"/>
              </a:rPr>
              <a:t>multi-</a:t>
            </a:r>
            <a:r>
              <a:rPr dirty="0" sz="2200">
                <a:latin typeface="Times New Roman"/>
                <a:cs typeface="Times New Roman"/>
              </a:rPr>
              <a:t>head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self-</a:t>
            </a:r>
            <a:r>
              <a:rPr dirty="0" sz="2200">
                <a:latin typeface="Times New Roman"/>
                <a:cs typeface="Times New Roman"/>
              </a:rPr>
              <a:t>attention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extract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deep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features.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Extracted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features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capture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texture,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shape,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color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patterns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microplastics.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74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Module</a:t>
            </a:r>
            <a:r>
              <a:rPr dirty="0" sz="3200" spc="-90"/>
              <a:t> </a:t>
            </a:r>
            <a:r>
              <a:rPr dirty="0" sz="3200"/>
              <a:t>3:</a:t>
            </a:r>
            <a:r>
              <a:rPr dirty="0" sz="3200" spc="-85"/>
              <a:t> </a:t>
            </a:r>
            <a:r>
              <a:rPr dirty="0" sz="3200"/>
              <a:t>Feature</a:t>
            </a:r>
            <a:r>
              <a:rPr dirty="0" sz="3200" spc="-90"/>
              <a:t> </a:t>
            </a:r>
            <a:r>
              <a:rPr dirty="0" sz="3200"/>
              <a:t>Extraction</a:t>
            </a:r>
            <a:r>
              <a:rPr dirty="0" sz="3200" spc="-130"/>
              <a:t> </a:t>
            </a:r>
            <a:r>
              <a:rPr dirty="0" sz="3200"/>
              <a:t>of</a:t>
            </a:r>
            <a:r>
              <a:rPr dirty="0" sz="3200" spc="-85"/>
              <a:t> </a:t>
            </a:r>
            <a:r>
              <a:rPr dirty="0" sz="3200"/>
              <a:t>Microplastic</a:t>
            </a:r>
            <a:r>
              <a:rPr dirty="0" sz="3200" spc="-90"/>
              <a:t> </a:t>
            </a:r>
            <a:r>
              <a:rPr dirty="0" sz="3200" spc="-10"/>
              <a:t>Images</a:t>
            </a:r>
            <a:endParaRPr sz="3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914400"/>
            <a:ext cx="7583932" cy="3810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98975" y="4903089"/>
            <a:ext cx="389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Fig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2: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Extraction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1351914" y="1926190"/>
            <a:ext cx="9742805" cy="2028189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 spc="-10">
                <a:latin typeface="Times New Roman"/>
                <a:cs typeface="Times New Roman"/>
              </a:rPr>
              <a:t>Features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passed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 spc="-35">
                <a:latin typeface="Times New Roman"/>
                <a:cs typeface="Times New Roman"/>
              </a:rPr>
              <a:t>ViT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classification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head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binary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classification.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Labels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assigned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Microplastic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Non-</a:t>
            </a:r>
            <a:r>
              <a:rPr dirty="0" sz="2200" spc="-10">
                <a:latin typeface="Times New Roman"/>
                <a:cs typeface="Times New Roman"/>
              </a:rPr>
              <a:t>Microplastic.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 spc="-20">
                <a:latin typeface="Times New Roman"/>
                <a:cs typeface="Times New Roman"/>
              </a:rPr>
              <a:t>Hyperparameters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like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learning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rate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batch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size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tuned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optimal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performance.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augmentation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improves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model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generalization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reduces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overfitting.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36495" y="898397"/>
            <a:ext cx="8284209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Module</a:t>
            </a:r>
            <a:r>
              <a:rPr dirty="0" sz="3200" spc="-75"/>
              <a:t> </a:t>
            </a:r>
            <a:r>
              <a:rPr dirty="0" sz="3200"/>
              <a:t>4:</a:t>
            </a:r>
            <a:r>
              <a:rPr dirty="0" sz="3200" spc="-90"/>
              <a:t> </a:t>
            </a:r>
            <a:r>
              <a:rPr dirty="0" sz="3200"/>
              <a:t>Classification</a:t>
            </a:r>
            <a:r>
              <a:rPr dirty="0" sz="3200" spc="-114"/>
              <a:t> </a:t>
            </a:r>
            <a:r>
              <a:rPr dirty="0" sz="3200"/>
              <a:t>of</a:t>
            </a:r>
            <a:r>
              <a:rPr dirty="0" sz="3200" spc="-60"/>
              <a:t> </a:t>
            </a:r>
            <a:r>
              <a:rPr dirty="0" sz="3200"/>
              <a:t>Microplastic</a:t>
            </a:r>
            <a:r>
              <a:rPr dirty="0" sz="3200" spc="-110"/>
              <a:t> </a:t>
            </a:r>
            <a:r>
              <a:rPr dirty="0" sz="3200" spc="-10"/>
              <a:t>Images</a:t>
            </a:r>
            <a:endParaRPr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08682" y="530732"/>
            <a:ext cx="734187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Module</a:t>
            </a:r>
            <a:r>
              <a:rPr dirty="0" sz="3200" spc="-55"/>
              <a:t> </a:t>
            </a:r>
            <a:r>
              <a:rPr dirty="0" sz="3200"/>
              <a:t>5:</a:t>
            </a:r>
            <a:r>
              <a:rPr dirty="0" sz="3200" spc="-70"/>
              <a:t> </a:t>
            </a:r>
            <a:r>
              <a:rPr dirty="0" sz="3200"/>
              <a:t>Evaluation</a:t>
            </a:r>
            <a:r>
              <a:rPr dirty="0" sz="3200" spc="-70"/>
              <a:t> </a:t>
            </a:r>
            <a:r>
              <a:rPr dirty="0" sz="3200"/>
              <a:t>of</a:t>
            </a:r>
            <a:r>
              <a:rPr dirty="0" sz="3200" spc="-80"/>
              <a:t> </a:t>
            </a:r>
            <a:r>
              <a:rPr dirty="0" sz="3200"/>
              <a:t>Classified</a:t>
            </a:r>
            <a:r>
              <a:rPr dirty="0" sz="3200" spc="-60"/>
              <a:t> </a:t>
            </a:r>
            <a:r>
              <a:rPr dirty="0" sz="3200" spc="-10"/>
              <a:t>Images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79067" y="1215288"/>
            <a:ext cx="8140700" cy="102552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95"/>
              </a:spcBef>
              <a:buChar char="•"/>
              <a:tabLst>
                <a:tab pos="390525" algn="l"/>
              </a:tabLst>
            </a:pPr>
            <a:r>
              <a:rPr dirty="0" sz="2200" spc="-10">
                <a:latin typeface="Times New Roman"/>
                <a:cs typeface="Times New Roman"/>
              </a:rPr>
              <a:t>Evaluates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performance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trained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Vision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Transformer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model.</a:t>
            </a:r>
            <a:endParaRPr sz="2200">
              <a:latin typeface="Times New Roman"/>
              <a:cs typeface="Times New Roman"/>
            </a:endParaRPr>
          </a:p>
          <a:p>
            <a:pPr marL="367665" indent="-354965">
              <a:lnSpc>
                <a:spcPct val="100000"/>
              </a:lnSpc>
              <a:spcBef>
                <a:spcPts val="1295"/>
              </a:spcBef>
              <a:buChar char="•"/>
              <a:tabLst>
                <a:tab pos="367665" algn="l"/>
                <a:tab pos="975360" algn="l"/>
                <a:tab pos="2204085" algn="l"/>
                <a:tab pos="3167380" algn="l"/>
                <a:tab pos="3681095" algn="l"/>
                <a:tab pos="4846955" algn="l"/>
                <a:tab pos="5238750" algn="l"/>
                <a:tab pos="6337935" algn="l"/>
                <a:tab pos="6996430" algn="l"/>
              </a:tabLst>
            </a:pPr>
            <a:r>
              <a:rPr dirty="0" sz="2200" spc="-25">
                <a:latin typeface="Times New Roman"/>
                <a:cs typeface="Times New Roman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classified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images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are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analyzed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to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measure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how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accurately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84232" y="1880361"/>
            <a:ext cx="122999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6415" algn="l"/>
              </a:tabLst>
            </a:pPr>
            <a:r>
              <a:rPr dirty="0" sz="2200" spc="-25">
                <a:latin typeface="Times New Roman"/>
                <a:cs typeface="Times New Roman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model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432" y="2222144"/>
            <a:ext cx="7764780" cy="102552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1395"/>
              </a:spcBef>
            </a:pPr>
            <a:r>
              <a:rPr dirty="0" sz="2200" spc="-10">
                <a:latin typeface="Times New Roman"/>
                <a:cs typeface="Times New Roman"/>
              </a:rPr>
              <a:t>microplastics.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1038225" algn="l"/>
                <a:tab pos="1753235" algn="l"/>
                <a:tab pos="2188845" algn="l"/>
                <a:tab pos="3437254" algn="l"/>
                <a:tab pos="4732655" algn="l"/>
                <a:tab pos="5627370" algn="l"/>
                <a:tab pos="6235700" algn="l"/>
                <a:tab pos="7417434" algn="l"/>
              </a:tabLst>
            </a:pPr>
            <a:r>
              <a:rPr dirty="0" sz="2200" spc="-10">
                <a:latin typeface="Times New Roman"/>
                <a:cs typeface="Times New Roman"/>
              </a:rPr>
              <a:t>metrics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such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accuracy,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precision,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recall,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30">
                <a:latin typeface="Times New Roman"/>
                <a:cs typeface="Times New Roman"/>
              </a:rPr>
              <a:t>F1-</a:t>
            </a:r>
            <a:r>
              <a:rPr dirty="0" sz="2200" spc="-10">
                <a:latin typeface="Times New Roman"/>
                <a:cs typeface="Times New Roman"/>
              </a:rPr>
              <a:t>score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are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9067" y="2222144"/>
            <a:ext cx="1578610" cy="152717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367665">
              <a:lnSpc>
                <a:spcPct val="100000"/>
              </a:lnSpc>
              <a:spcBef>
                <a:spcPts val="1395"/>
              </a:spcBef>
            </a:pPr>
            <a:r>
              <a:rPr dirty="0" sz="2200" spc="-10">
                <a:latin typeface="Times New Roman"/>
                <a:cs typeface="Times New Roman"/>
              </a:rPr>
              <a:t>identifies</a:t>
            </a:r>
            <a:endParaRPr sz="2200">
              <a:latin typeface="Times New Roman"/>
              <a:cs typeface="Times New Roman"/>
            </a:endParaRPr>
          </a:p>
          <a:p>
            <a:pPr marL="367665" marR="5080" indent="-355600">
              <a:lnSpc>
                <a:spcPts val="3950"/>
              </a:lnSpc>
              <a:spcBef>
                <a:spcPts val="135"/>
              </a:spcBef>
              <a:buChar char="•"/>
              <a:tabLst>
                <a:tab pos="367665" algn="l"/>
              </a:tabLst>
            </a:pPr>
            <a:r>
              <a:rPr dirty="0" sz="2200" spc="-20">
                <a:latin typeface="Times New Roman"/>
                <a:cs typeface="Times New Roman"/>
              </a:rPr>
              <a:t>Evaluation </a:t>
            </a:r>
            <a:r>
              <a:rPr dirty="0" sz="2200" spc="-10">
                <a:latin typeface="Times New Roman"/>
                <a:cs typeface="Times New Roman"/>
              </a:rPr>
              <a:t>calculated.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067" y="3668928"/>
            <a:ext cx="9519285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665" marR="5080" indent="-355600">
              <a:lnSpc>
                <a:spcPct val="150000"/>
              </a:lnSpc>
              <a:spcBef>
                <a:spcPts val="100"/>
              </a:spcBef>
              <a:buChar char="•"/>
              <a:tabLst>
                <a:tab pos="367665" algn="l"/>
                <a:tab pos="1890395" algn="l"/>
                <a:tab pos="5273675" algn="l"/>
              </a:tabLst>
            </a:pPr>
            <a:r>
              <a:rPr dirty="0" sz="2200">
                <a:latin typeface="Times New Roman"/>
                <a:cs typeface="Times New Roman"/>
              </a:rPr>
              <a:t>ROC</a:t>
            </a:r>
            <a:r>
              <a:rPr dirty="0" sz="2200" spc="85">
                <a:latin typeface="Times New Roman"/>
                <a:cs typeface="Times New Roman"/>
              </a:rPr>
              <a:t>  </a:t>
            </a:r>
            <a:r>
              <a:rPr dirty="0" sz="2200" spc="-20">
                <a:latin typeface="Times New Roman"/>
                <a:cs typeface="Times New Roman"/>
              </a:rPr>
              <a:t>curve</a:t>
            </a:r>
            <a:r>
              <a:rPr dirty="0" sz="2200">
                <a:latin typeface="Times New Roman"/>
                <a:cs typeface="Times New Roman"/>
              </a:rPr>
              <a:t>	and</a:t>
            </a:r>
            <a:r>
              <a:rPr dirty="0" sz="2200" spc="7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AUC</a:t>
            </a:r>
            <a:r>
              <a:rPr dirty="0" sz="2200" spc="8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values</a:t>
            </a:r>
            <a:r>
              <a:rPr dirty="0" sz="2200" spc="7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75">
                <a:latin typeface="Times New Roman"/>
                <a:cs typeface="Times New Roman"/>
              </a:rPr>
              <a:t>  </a:t>
            </a:r>
            <a:r>
              <a:rPr dirty="0" sz="2200" spc="-20">
                <a:latin typeface="Times New Roman"/>
                <a:cs typeface="Times New Roman"/>
              </a:rPr>
              <a:t>used</a:t>
            </a:r>
            <a:r>
              <a:rPr dirty="0" sz="2200">
                <a:latin typeface="Times New Roman"/>
                <a:cs typeface="Times New Roman"/>
              </a:rPr>
              <a:t>	to</a:t>
            </a:r>
            <a:r>
              <a:rPr dirty="0" sz="2200" spc="5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assess</a:t>
            </a:r>
            <a:r>
              <a:rPr dirty="0" sz="2200" spc="8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8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model’s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classification capability.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185" y="1310741"/>
            <a:ext cx="4644365" cy="28040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0400" y="1143000"/>
            <a:ext cx="4444238" cy="28000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70375" y="4598289"/>
            <a:ext cx="4388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Fig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3:Evaluation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Metrics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Confusion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Matrix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089005" y="6430015"/>
            <a:ext cx="177800" cy="2025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25">
                <a:solidFill>
                  <a:srgbClr val="767676"/>
                </a:solidFill>
                <a:latin typeface="Trebuchet MS"/>
                <a:cs typeface="Trebuchet MS"/>
              </a:rPr>
              <a:t>23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7875" rIns="0" bIns="0" rtlCol="0" vert="horz">
            <a:spAutoFit/>
          </a:bodyPr>
          <a:lstStyle/>
          <a:p>
            <a:pPr marL="1496695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Module</a:t>
            </a:r>
            <a:r>
              <a:rPr dirty="0" sz="3200" spc="-70"/>
              <a:t> </a:t>
            </a:r>
            <a:r>
              <a:rPr dirty="0" sz="3200"/>
              <a:t>6:</a:t>
            </a:r>
            <a:r>
              <a:rPr dirty="0" sz="3200" spc="-55"/>
              <a:t> </a:t>
            </a:r>
            <a:r>
              <a:rPr dirty="0" sz="3200"/>
              <a:t>Result</a:t>
            </a:r>
            <a:r>
              <a:rPr dirty="0" sz="3200" spc="-55"/>
              <a:t> </a:t>
            </a:r>
            <a:r>
              <a:rPr dirty="0" sz="3200"/>
              <a:t>&amp;</a:t>
            </a:r>
            <a:r>
              <a:rPr dirty="0" sz="3200" spc="-85"/>
              <a:t> </a:t>
            </a:r>
            <a:r>
              <a:rPr dirty="0" sz="3200" spc="-10"/>
              <a:t>Visualization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62380" y="1781708"/>
            <a:ext cx="8555990" cy="152717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95"/>
              </a:spcBef>
              <a:buChar char="•"/>
              <a:tabLst>
                <a:tab pos="390525" algn="l"/>
              </a:tabLst>
            </a:pPr>
            <a:r>
              <a:rPr dirty="0" sz="2200" spc="-10">
                <a:latin typeface="Times New Roman"/>
                <a:cs typeface="Times New Roman"/>
              </a:rPr>
              <a:t>Displays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final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output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microplastic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classification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300"/>
              </a:spcBef>
              <a:buChar char="•"/>
              <a:tabLst>
                <a:tab pos="390525" algn="l"/>
              </a:tabLst>
            </a:pPr>
            <a:r>
              <a:rPr dirty="0" sz="2200">
                <a:latin typeface="Times New Roman"/>
                <a:cs typeface="Times New Roman"/>
              </a:rPr>
              <a:t>Users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upload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microscopic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through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Flask-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web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application.</a:t>
            </a:r>
            <a:endParaRPr sz="2200">
              <a:latin typeface="Times New Roman"/>
              <a:cs typeface="Times New Roman"/>
            </a:endParaRPr>
          </a:p>
          <a:p>
            <a:pPr marL="367665" indent="-354965">
              <a:lnSpc>
                <a:spcPct val="100000"/>
              </a:lnSpc>
              <a:spcBef>
                <a:spcPts val="1310"/>
              </a:spcBef>
              <a:buChar char="•"/>
              <a:tabLst>
                <a:tab pos="367665" algn="l"/>
                <a:tab pos="1035050" algn="l"/>
                <a:tab pos="2044064" algn="l"/>
                <a:tab pos="3161030" algn="l"/>
                <a:tab pos="4295140" algn="l"/>
                <a:tab pos="4872990" algn="l"/>
                <a:tab pos="5787390" algn="l"/>
                <a:tab pos="6953884" algn="l"/>
              </a:tabLst>
            </a:pPr>
            <a:r>
              <a:rPr dirty="0" sz="2200" spc="-25">
                <a:latin typeface="Times New Roman"/>
                <a:cs typeface="Times New Roman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system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predicts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whether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image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contains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Microplastic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6514" y="2953004"/>
            <a:ext cx="10572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8155" algn="l"/>
              </a:tabLst>
            </a:pPr>
            <a:r>
              <a:rPr dirty="0" baseline="1262" sz="3300" spc="-37">
                <a:latin typeface="Times New Roman"/>
                <a:cs typeface="Times New Roman"/>
              </a:rPr>
              <a:t>or</a:t>
            </a:r>
            <a:r>
              <a:rPr dirty="0" baseline="1262" sz="330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Non-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2380" y="3291611"/>
            <a:ext cx="9462770" cy="102552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367665">
              <a:lnSpc>
                <a:spcPct val="100000"/>
              </a:lnSpc>
              <a:spcBef>
                <a:spcPts val="1395"/>
              </a:spcBef>
            </a:pPr>
            <a:r>
              <a:rPr dirty="0" sz="2200" spc="-10">
                <a:latin typeface="Times New Roman"/>
                <a:cs typeface="Times New Roman"/>
              </a:rPr>
              <a:t>Microplastic.</a:t>
            </a:r>
            <a:endParaRPr sz="2200">
              <a:latin typeface="Times New Roman"/>
              <a:cs typeface="Times New Roman"/>
            </a:endParaRPr>
          </a:p>
          <a:p>
            <a:pPr marL="367665" indent="-354965">
              <a:lnSpc>
                <a:spcPct val="100000"/>
              </a:lnSpc>
              <a:spcBef>
                <a:spcPts val="1295"/>
              </a:spcBef>
              <a:buChar char="•"/>
              <a:tabLst>
                <a:tab pos="367665" algn="l"/>
              </a:tabLst>
            </a:pPr>
            <a:r>
              <a:rPr dirty="0" sz="2200">
                <a:latin typeface="Times New Roman"/>
                <a:cs typeface="Times New Roman"/>
              </a:rPr>
              <a:t>Heatmaps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visualize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important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regions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by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model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decision-</a:t>
            </a:r>
            <a:r>
              <a:rPr dirty="0" sz="2200" spc="-10">
                <a:latin typeface="Times New Roman"/>
                <a:cs typeface="Times New Roman"/>
              </a:rPr>
              <a:t>making.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685800"/>
            <a:ext cx="10072878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609600"/>
            <a:ext cx="10744200" cy="4739005"/>
            <a:chOff x="762000" y="609600"/>
            <a:chExt cx="10744200" cy="4739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609600"/>
              <a:ext cx="5482590" cy="4739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3578" y="626109"/>
              <a:ext cx="5222621" cy="472249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803775" y="5547461"/>
            <a:ext cx="27209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Fig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4: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Result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 </a:t>
            </a:r>
            <a:r>
              <a:rPr dirty="0" sz="1800" spc="-10">
                <a:latin typeface="Times New Roman"/>
                <a:cs typeface="Times New Roman"/>
              </a:rPr>
              <a:t>Visualization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9549" rIns="0" bIns="0" rtlCol="0" vert="horz">
            <a:spAutoFit/>
          </a:bodyPr>
          <a:lstStyle/>
          <a:p>
            <a:pPr marL="3255645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CONCLUSION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248562" y="1584430"/>
            <a:ext cx="9382125" cy="303847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425"/>
              </a:spcBef>
              <a:buChar char="•"/>
              <a:tabLst>
                <a:tab pos="373380" algn="l"/>
              </a:tabLst>
            </a:pPr>
            <a:r>
              <a:rPr dirty="0" sz="2200">
                <a:latin typeface="Times New Roman"/>
                <a:cs typeface="Times New Roman"/>
              </a:rPr>
              <a:t>Develops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3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cutting-</a:t>
            </a:r>
            <a:r>
              <a:rPr dirty="0" sz="2200">
                <a:latin typeface="Times New Roman"/>
                <a:cs typeface="Times New Roman"/>
              </a:rPr>
              <a:t>edge</a:t>
            </a:r>
            <a:r>
              <a:rPr dirty="0" sz="2200" spc="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microplastic</a:t>
            </a:r>
            <a:r>
              <a:rPr dirty="0" sz="2200" spc="1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classification</a:t>
            </a:r>
            <a:r>
              <a:rPr dirty="0" sz="2200" spc="1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by</a:t>
            </a:r>
            <a:r>
              <a:rPr dirty="0" sz="2200" spc="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integrating</a:t>
            </a:r>
            <a:r>
              <a:rPr dirty="0" sz="2200" spc="14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HSL</a:t>
            </a:r>
            <a:endParaRPr sz="2200">
              <a:latin typeface="Times New Roman"/>
              <a:cs typeface="Times New Roman"/>
            </a:endParaRPr>
          </a:p>
          <a:p>
            <a:pPr marL="373380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Times New Roman"/>
                <a:cs typeface="Times New Roman"/>
              </a:rPr>
              <a:t>image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fusion</a:t>
            </a:r>
            <a:r>
              <a:rPr dirty="0" sz="2200" spc="5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Vision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Transformer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architecture.</a:t>
            </a:r>
            <a:endParaRPr sz="2200">
              <a:latin typeface="Times New Roman"/>
              <a:cs typeface="Times New Roman"/>
            </a:endParaRPr>
          </a:p>
          <a:p>
            <a:pPr marL="373380" indent="-360680">
              <a:lnSpc>
                <a:spcPct val="100000"/>
              </a:lnSpc>
              <a:spcBef>
                <a:spcPts val="1764"/>
              </a:spcBef>
              <a:buChar char="•"/>
              <a:tabLst>
                <a:tab pos="373380" algn="l"/>
              </a:tabLst>
            </a:pPr>
            <a:r>
              <a:rPr dirty="0" sz="2200">
                <a:latin typeface="Times New Roman"/>
                <a:cs typeface="Times New Roman"/>
              </a:rPr>
              <a:t>Evaluates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performance</a:t>
            </a:r>
            <a:r>
              <a:rPr dirty="0" sz="2200" spc="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key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metrics: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accuracy,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precision,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recall,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F1-</a:t>
            </a:r>
            <a:r>
              <a:rPr dirty="0" sz="2200" spc="-10">
                <a:latin typeface="Times New Roman"/>
                <a:cs typeface="Times New Roman"/>
              </a:rPr>
              <a:t>score,</a:t>
            </a:r>
            <a:endParaRPr sz="2200">
              <a:latin typeface="Times New Roman"/>
              <a:cs typeface="Times New Roman"/>
            </a:endParaRPr>
          </a:p>
          <a:p>
            <a:pPr marL="373380">
              <a:lnSpc>
                <a:spcPct val="100000"/>
              </a:lnSpc>
              <a:spcBef>
                <a:spcPts val="1310"/>
              </a:spcBef>
            </a:pPr>
            <a:r>
              <a:rPr dirty="0" sz="2200">
                <a:latin typeface="Times New Roman"/>
                <a:cs typeface="Times New Roman"/>
              </a:rPr>
              <a:t>AUC,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ROC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curves.</a:t>
            </a:r>
            <a:endParaRPr sz="2200">
              <a:latin typeface="Times New Roman"/>
              <a:cs typeface="Times New Roman"/>
            </a:endParaRPr>
          </a:p>
          <a:p>
            <a:pPr marL="373380" indent="-360680">
              <a:lnSpc>
                <a:spcPct val="100000"/>
              </a:lnSpc>
              <a:spcBef>
                <a:spcPts val="840"/>
              </a:spcBef>
              <a:buChar char="•"/>
              <a:tabLst>
                <a:tab pos="373380" algn="l"/>
              </a:tabLst>
            </a:pPr>
            <a:r>
              <a:rPr dirty="0" sz="2200">
                <a:latin typeface="Times New Roman"/>
                <a:cs typeface="Times New Roman"/>
              </a:rPr>
              <a:t>Deploys</a:t>
            </a:r>
            <a:r>
              <a:rPr dirty="0" sz="2200" spc="5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5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47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Flask-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3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web</a:t>
            </a:r>
            <a:r>
              <a:rPr dirty="0" sz="2200" spc="5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application,</a:t>
            </a:r>
            <a:r>
              <a:rPr dirty="0" sz="2200" spc="3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enabling</a:t>
            </a:r>
            <a:r>
              <a:rPr dirty="0" sz="2200" spc="5">
                <a:latin typeface="Times New Roman"/>
                <a:cs typeface="Times New Roman"/>
              </a:rPr>
              <a:t>  </a:t>
            </a:r>
            <a:r>
              <a:rPr dirty="0" sz="2200" spc="-30">
                <a:latin typeface="Times New Roman"/>
                <a:cs typeface="Times New Roman"/>
              </a:rPr>
              <a:t>real-</a:t>
            </a:r>
            <a:r>
              <a:rPr dirty="0" sz="2200">
                <a:latin typeface="Times New Roman"/>
                <a:cs typeface="Times New Roman"/>
              </a:rPr>
              <a:t>time,</a:t>
            </a:r>
            <a:r>
              <a:rPr dirty="0" sz="2200" spc="35">
                <a:latin typeface="Times New Roman"/>
                <a:cs typeface="Times New Roman"/>
              </a:rPr>
              <a:t>  </a:t>
            </a:r>
            <a:r>
              <a:rPr dirty="0" sz="2200" spc="-40">
                <a:latin typeface="Times New Roman"/>
                <a:cs typeface="Times New Roman"/>
              </a:rPr>
              <a:t>user-</a:t>
            </a:r>
            <a:r>
              <a:rPr dirty="0" sz="2200" spc="-10">
                <a:latin typeface="Times New Roman"/>
                <a:cs typeface="Times New Roman"/>
              </a:rPr>
              <a:t>friendly</a:t>
            </a:r>
            <a:endParaRPr sz="2200">
              <a:latin typeface="Times New Roman"/>
              <a:cs typeface="Times New Roman"/>
            </a:endParaRPr>
          </a:p>
          <a:p>
            <a:pPr marL="373380">
              <a:lnSpc>
                <a:spcPct val="100000"/>
              </a:lnSpc>
              <a:spcBef>
                <a:spcPts val="1320"/>
              </a:spcBef>
            </a:pPr>
            <a:r>
              <a:rPr dirty="0" sz="2200" spc="-10">
                <a:latin typeface="Times New Roman"/>
                <a:cs typeface="Times New Roman"/>
              </a:rPr>
              <a:t>classification.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985" rIns="0" bIns="0" rtlCol="0" vert="horz">
            <a:spAutoFit/>
          </a:bodyPr>
          <a:lstStyle/>
          <a:p>
            <a:pPr marL="171323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FUTURE</a:t>
            </a:r>
            <a:r>
              <a:rPr dirty="0" sz="3200" spc="-15"/>
              <a:t> </a:t>
            </a:r>
            <a:r>
              <a:rPr dirty="0" sz="3200" spc="-10"/>
              <a:t>ENHANCEMENTS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212291" y="1525295"/>
            <a:ext cx="9377045" cy="1527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49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Connect</a:t>
            </a:r>
            <a:r>
              <a:rPr dirty="0" sz="2200" spc="4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digital</a:t>
            </a:r>
            <a:r>
              <a:rPr dirty="0" sz="2200" spc="459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microscopes</a:t>
            </a:r>
            <a:r>
              <a:rPr dirty="0" sz="2200" spc="5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directly</a:t>
            </a:r>
            <a:r>
              <a:rPr dirty="0" sz="2200" spc="4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4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embedded</a:t>
            </a:r>
            <a:r>
              <a:rPr dirty="0" sz="2200" spc="5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systems</a:t>
            </a:r>
            <a:r>
              <a:rPr dirty="0" sz="2200" spc="4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4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automated </a:t>
            </a:r>
            <a:r>
              <a:rPr dirty="0" sz="2200">
                <a:latin typeface="Times New Roman"/>
                <a:cs typeface="Times New Roman"/>
              </a:rPr>
              <a:t>image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capture.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Display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detection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results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attention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heatmaps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directly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portable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devices.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64709" y="435990"/>
            <a:ext cx="309054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5"/>
              <a:t>PUBLICATIONS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1890" y="1219327"/>
            <a:ext cx="24860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latin typeface="Times New Roman"/>
                <a:cs typeface="Times New Roman"/>
              </a:rPr>
              <a:t>CONFERENCE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33600" y="1974850"/>
          <a:ext cx="8232140" cy="2647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8780"/>
                <a:gridCol w="5204460"/>
              </a:tblGrid>
              <a:tr h="685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Conference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National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Applications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Electrical,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Electronics</a:t>
                      </a:r>
                      <a:r>
                        <a:rPr dirty="0" sz="18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Systems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dirty="0" sz="18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Organizers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Karpagam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Institute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Technology,</a:t>
                      </a:r>
                      <a:r>
                        <a:rPr dirty="0" sz="18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Coimbatore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Conference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April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2026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ISBN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Number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978-93-6228-226-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18029" y="1746250"/>
          <a:ext cx="8241665" cy="2861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8780"/>
                <a:gridCol w="5213985"/>
              </a:tblGrid>
              <a:tr h="8997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Publication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7000"/>
                        </a:lnSpc>
                        <a:spcBef>
                          <a:spcPts val="50"/>
                        </a:spcBef>
                        <a:tabLst>
                          <a:tab pos="1399540" algn="l"/>
                          <a:tab pos="2380615" algn="l"/>
                          <a:tab pos="3199765" algn="l"/>
                          <a:tab pos="3542665" algn="l"/>
                          <a:tab pos="5027295" algn="l"/>
                        </a:tabLst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International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Modernization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dirty="0" sz="18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Technology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Science </a:t>
                      </a:r>
                      <a:r>
                        <a:rPr dirty="0" u="sng" sz="1800" spc="-1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https</a:t>
                      </a:r>
                      <a:r>
                        <a:rPr dirty="0" u="sng" sz="1800" spc="-1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:</a:t>
                      </a:r>
                      <a:r>
                        <a:rPr dirty="0" u="sng" sz="1800" spc="-1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//www</a:t>
                      </a:r>
                      <a:r>
                        <a:rPr dirty="0" u="sng" sz="1800" spc="-1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.</a:t>
                      </a:r>
                      <a:r>
                        <a:rPr dirty="0" u="sng" sz="1800" spc="-1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irjmets</a:t>
                      </a:r>
                      <a:r>
                        <a:rPr dirty="0" u="sng" sz="1800" spc="-1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.</a:t>
                      </a:r>
                      <a:r>
                        <a:rPr dirty="0" u="sng" sz="1800" spc="-1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com</a:t>
                      </a:r>
                      <a:r>
                        <a:rPr dirty="0" u="sng" sz="1800" spc="-10">
                          <a:solidFill>
                            <a:srgbClr val="467885"/>
                          </a:solidFill>
                          <a:uFill>
                            <a:solidFill>
                              <a:srgbClr val="467885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/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Volume/Issue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Volume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08/Issue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03/March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2026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34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ISSN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Number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2582-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5208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DOI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10.56726/IRJMETS52500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1055" rIns="0" bIns="0" rtlCol="0" vert="horz">
            <a:spAutoFit/>
          </a:bodyPr>
          <a:lstStyle/>
          <a:p>
            <a:pPr marL="361442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JOURNAL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089005" y="6429405"/>
            <a:ext cx="177800" cy="2025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25">
                <a:solidFill>
                  <a:srgbClr val="767676"/>
                </a:solidFill>
                <a:latin typeface="Trebuchet MS"/>
                <a:cs typeface="Trebuchet MS"/>
              </a:rPr>
              <a:t>26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15002" y="291845"/>
            <a:ext cx="274828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/>
              <a:t>REFERENCES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90371" y="1086993"/>
            <a:ext cx="10108565" cy="455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0160" indent="370840">
              <a:lnSpc>
                <a:spcPct val="150000"/>
              </a:lnSpc>
              <a:spcBef>
                <a:spcPts val="100"/>
              </a:spcBef>
              <a:buAutoNum type="arabicPlain"/>
              <a:tabLst>
                <a:tab pos="383540" algn="l"/>
              </a:tabLst>
            </a:pPr>
            <a:r>
              <a:rPr dirty="0" sz="1800">
                <a:latin typeface="Times New Roman"/>
                <a:cs typeface="Times New Roman"/>
              </a:rPr>
              <a:t>S.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Chokchaitam,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P.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Kaewprapha,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W.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Chainam,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al.,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“Enhancing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Automatic</a:t>
            </a:r>
            <a:r>
              <a:rPr dirty="0" sz="1800" spc="3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Detection </a:t>
            </a:r>
            <a:r>
              <a:rPr dirty="0" sz="1800">
                <a:latin typeface="Times New Roman"/>
                <a:cs typeface="Times New Roman"/>
              </a:rPr>
              <a:t>Through</a:t>
            </a:r>
            <a:r>
              <a:rPr dirty="0" sz="1800" spc="8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Density</a:t>
            </a:r>
            <a:r>
              <a:rPr dirty="0" sz="1800" spc="9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Separation</a:t>
            </a:r>
            <a:r>
              <a:rPr dirty="0" sz="1800" spc="8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8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HSV</a:t>
            </a:r>
            <a:r>
              <a:rPr dirty="0" sz="1800" spc="8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Color</a:t>
            </a:r>
            <a:r>
              <a:rPr dirty="0" sz="1800" spc="8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Processing,”</a:t>
            </a:r>
            <a:r>
              <a:rPr dirty="0" sz="1800" spc="8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International</a:t>
            </a:r>
            <a:r>
              <a:rPr dirty="0" sz="1800" spc="8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Conference</a:t>
            </a:r>
            <a:r>
              <a:rPr dirty="0" sz="1800" spc="9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8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Robotics</a:t>
            </a:r>
            <a:r>
              <a:rPr dirty="0" sz="1800" spc="80">
                <a:latin typeface="Times New Roman"/>
                <a:cs typeface="Times New Roman"/>
              </a:rPr>
              <a:t> 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Automation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Sciences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(ICRAS),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2024.</a:t>
            </a:r>
            <a:endParaRPr sz="1800">
              <a:latin typeface="Times New Roman"/>
              <a:cs typeface="Times New Roman"/>
            </a:endParaRPr>
          </a:p>
          <a:p>
            <a:pPr algn="just" marL="369570" indent="-356870">
              <a:lnSpc>
                <a:spcPct val="100000"/>
              </a:lnSpc>
              <a:spcBef>
                <a:spcPts val="1080"/>
              </a:spcBef>
              <a:buAutoNum type="arabicPlain"/>
              <a:tabLst>
                <a:tab pos="369570" algn="l"/>
              </a:tabLst>
            </a:pPr>
            <a:r>
              <a:rPr dirty="0" sz="1800">
                <a:latin typeface="Times New Roman"/>
                <a:cs typeface="Times New Roman"/>
              </a:rPr>
              <a:t>S.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Primpke,</a:t>
            </a:r>
            <a:r>
              <a:rPr dirty="0" sz="1800" spc="2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al.,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“Automated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Identification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via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FTIR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Imaging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Machine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Learning,”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FTIR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Analysis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Journal,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2023.</a:t>
            </a:r>
            <a:endParaRPr sz="1800">
              <a:latin typeface="Times New Roman"/>
              <a:cs typeface="Times New Roman"/>
            </a:endParaRPr>
          </a:p>
          <a:p>
            <a:pPr marL="12700" marR="7620" indent="381635">
              <a:lnSpc>
                <a:spcPct val="150000"/>
              </a:lnSpc>
              <a:buAutoNum type="arabicPlain" startAt="3"/>
              <a:tabLst>
                <a:tab pos="394335" algn="l"/>
              </a:tabLst>
            </a:pPr>
            <a:r>
              <a:rPr dirty="0" sz="1800">
                <a:latin typeface="Times New Roman"/>
                <a:cs typeface="Times New Roman"/>
              </a:rPr>
              <a:t>J.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Coronel-</a:t>
            </a:r>
            <a:r>
              <a:rPr dirty="0" sz="1800">
                <a:latin typeface="Times New Roman"/>
                <a:cs typeface="Times New Roman"/>
              </a:rPr>
              <a:t>León,</a:t>
            </a:r>
            <a:r>
              <a:rPr dirty="0" sz="1800" spc="43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43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al.,</a:t>
            </a:r>
            <a:r>
              <a:rPr dirty="0" sz="1800" spc="43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“Computer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43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4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Marine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Samples,”</a:t>
            </a:r>
            <a:r>
              <a:rPr dirty="0" sz="1800" spc="43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Marine </a:t>
            </a:r>
            <a:r>
              <a:rPr dirty="0" sz="1800">
                <a:latin typeface="Times New Roman"/>
                <a:cs typeface="Times New Roman"/>
              </a:rPr>
              <a:t>Environmental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Research,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2023.</a:t>
            </a:r>
            <a:endParaRPr sz="18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1080"/>
              </a:spcBef>
              <a:buAutoNum type="arabicPlain" startAt="3"/>
              <a:tabLst>
                <a:tab pos="351790" algn="l"/>
              </a:tabLst>
            </a:pPr>
            <a:r>
              <a:rPr dirty="0" sz="1800">
                <a:latin typeface="Times New Roman"/>
                <a:cs typeface="Times New Roman"/>
              </a:rPr>
              <a:t>Zhang,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K.,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Zhang,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C.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C.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“A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low-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rover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near-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latin typeface="Times New Roman"/>
                <a:cs typeface="Times New Roman"/>
              </a:rPr>
              <a:t>infrared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spectroscopy.”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IEEE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Canadian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Conference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Electrical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2023.</a:t>
            </a:r>
            <a:endParaRPr sz="1800">
              <a:latin typeface="Times New Roman"/>
              <a:cs typeface="Times New Roman"/>
            </a:endParaRPr>
          </a:p>
          <a:p>
            <a:pPr marL="12700" marR="8890" indent="327025">
              <a:lnSpc>
                <a:spcPct val="150000"/>
              </a:lnSpc>
              <a:buAutoNum type="arabicPlain" startAt="5"/>
              <a:tabLst>
                <a:tab pos="339725" algn="l"/>
              </a:tabLst>
            </a:pPr>
            <a:r>
              <a:rPr dirty="0" sz="1800">
                <a:latin typeface="Times New Roman"/>
                <a:cs typeface="Times New Roman"/>
              </a:rPr>
              <a:t>T. Maes,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al.,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“Advances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Optical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Detection,”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Optical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Pollution </a:t>
            </a:r>
            <a:r>
              <a:rPr dirty="0" sz="1800">
                <a:latin typeface="Times New Roman"/>
                <a:cs typeface="Times New Roman"/>
              </a:rPr>
              <a:t>Monitoring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Review,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2022.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640" y="738886"/>
            <a:ext cx="10587990" cy="414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51790">
              <a:lnSpc>
                <a:spcPct val="150000"/>
              </a:lnSpc>
              <a:spcBef>
                <a:spcPts val="100"/>
              </a:spcBef>
              <a:buFont typeface="Times New Roman"/>
              <a:buAutoNum type="arabicPlain" startAt="6"/>
              <a:tabLst>
                <a:tab pos="364490" algn="l"/>
              </a:tabLst>
            </a:pPr>
            <a:r>
              <a:rPr dirty="0" sz="1800">
                <a:latin typeface="Times New Roman"/>
                <a:cs typeface="Times New Roman"/>
              </a:rPr>
              <a:t>H.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Park,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1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al.,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“High-</a:t>
            </a:r>
            <a:r>
              <a:rPr dirty="0" sz="1800">
                <a:latin typeface="Times New Roman"/>
                <a:cs typeface="Times New Roman"/>
              </a:rPr>
              <a:t>Resolution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Imaging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Classification,”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International </a:t>
            </a:r>
            <a:r>
              <a:rPr dirty="0" sz="1800">
                <a:latin typeface="Times New Roman"/>
                <a:cs typeface="Times New Roman"/>
              </a:rPr>
              <a:t>Journal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Environmental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2022.</a:t>
            </a:r>
            <a:endParaRPr sz="1800">
              <a:latin typeface="Times New Roman"/>
              <a:cs typeface="Times New Roman"/>
            </a:endParaRPr>
          </a:p>
          <a:p>
            <a:pPr marL="12700" marR="6985" indent="342265">
              <a:lnSpc>
                <a:spcPts val="3240"/>
              </a:lnSpc>
              <a:spcBef>
                <a:spcPts val="285"/>
              </a:spcBef>
              <a:buAutoNum type="arabicPlain" startAt="6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Razali,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N.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M.,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Saris,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N.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N.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H.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“Optical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planar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waveguide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simulation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in </a:t>
            </a:r>
            <a:r>
              <a:rPr dirty="0" sz="1800">
                <a:latin typeface="Times New Roman"/>
                <a:cs typeface="Times New Roman"/>
              </a:rPr>
              <a:t>water.”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IEEE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Numerical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Simulation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Optoelectronic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Devices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Conference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(NUSOD),</a:t>
            </a:r>
            <a:r>
              <a:rPr dirty="0" sz="1800" spc="-10">
                <a:latin typeface="Times New Roman"/>
                <a:cs typeface="Times New Roman"/>
              </a:rPr>
              <a:t> 2022.</a:t>
            </a:r>
            <a:endParaRPr sz="1800">
              <a:latin typeface="Times New Roman"/>
              <a:cs typeface="Times New Roman"/>
            </a:endParaRPr>
          </a:p>
          <a:p>
            <a:pPr marL="12700" marR="5080" indent="377190">
              <a:lnSpc>
                <a:spcPts val="3240"/>
              </a:lnSpc>
              <a:spcBef>
                <a:spcPts val="5"/>
              </a:spcBef>
              <a:buAutoNum type="arabicPlain" startAt="6"/>
              <a:tabLst>
                <a:tab pos="389890" algn="l"/>
              </a:tabLst>
            </a:pPr>
            <a:r>
              <a:rPr dirty="0" sz="1800">
                <a:latin typeface="Times New Roman"/>
                <a:cs typeface="Times New Roman"/>
              </a:rPr>
              <a:t>C.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M.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Rochman,</a:t>
            </a:r>
            <a:r>
              <a:rPr dirty="0" sz="1800" spc="4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al.,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“Machine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Pollution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Monitoring,”</a:t>
            </a:r>
            <a:r>
              <a:rPr dirty="0" sz="1800" spc="3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Environmental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Data </a:t>
            </a:r>
            <a:r>
              <a:rPr dirty="0" sz="1800">
                <a:latin typeface="Times New Roman"/>
                <a:cs typeface="Times New Roman"/>
              </a:rPr>
              <a:t>Science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Journal,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2021.</a:t>
            </a:r>
            <a:endParaRPr sz="1800">
              <a:latin typeface="Times New Roman"/>
              <a:cs typeface="Times New Roman"/>
            </a:endParaRPr>
          </a:p>
          <a:p>
            <a:pPr marL="12700" marR="6985" indent="379095">
              <a:lnSpc>
                <a:spcPts val="3240"/>
              </a:lnSpc>
              <a:buAutoNum type="arabicPlain" startAt="6"/>
              <a:tabLst>
                <a:tab pos="391795" algn="l"/>
              </a:tabLst>
            </a:pPr>
            <a:r>
              <a:rPr dirty="0" sz="1800">
                <a:latin typeface="Times New Roman"/>
                <a:cs typeface="Times New Roman"/>
              </a:rPr>
              <a:t>Y.</a:t>
            </a:r>
            <a:r>
              <a:rPr dirty="0" sz="1800" spc="4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Xu,</a:t>
            </a:r>
            <a:r>
              <a:rPr dirty="0" sz="1800" spc="4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4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al.,</a:t>
            </a:r>
            <a:r>
              <a:rPr dirty="0" sz="1800" spc="4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“Vision-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Identification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4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Microplastics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4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DCNN,”</a:t>
            </a:r>
            <a:r>
              <a:rPr dirty="0" sz="1800" spc="4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International</a:t>
            </a:r>
            <a:r>
              <a:rPr dirty="0" sz="1800" spc="4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Conference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on </a:t>
            </a:r>
            <a:r>
              <a:rPr dirty="0" sz="1800" spc="-10">
                <a:latin typeface="Times New Roman"/>
                <a:cs typeface="Times New Roman"/>
              </a:rPr>
              <a:t>Vision-</a:t>
            </a:r>
            <a:r>
              <a:rPr dirty="0" sz="1800">
                <a:latin typeface="Times New Roman"/>
                <a:cs typeface="Times New Roman"/>
              </a:rPr>
              <a:t>Based </a:t>
            </a:r>
            <a:r>
              <a:rPr dirty="0" sz="1800" spc="-10">
                <a:latin typeface="Times New Roman"/>
                <a:cs typeface="Times New Roman"/>
              </a:rPr>
              <a:t>Environmental</a:t>
            </a:r>
            <a:r>
              <a:rPr dirty="0" sz="1800">
                <a:latin typeface="Times New Roman"/>
                <a:cs typeface="Times New Roman"/>
              </a:rPr>
              <a:t> Analysis,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2021.</a:t>
            </a:r>
            <a:endParaRPr sz="1800">
              <a:latin typeface="Times New Roman"/>
              <a:cs typeface="Times New Roman"/>
            </a:endParaRPr>
          </a:p>
          <a:p>
            <a:pPr marL="12700" marR="6350" indent="438150">
              <a:lnSpc>
                <a:spcPts val="3240"/>
              </a:lnSpc>
              <a:buAutoNum type="arabicPlain" startAt="6"/>
              <a:tabLst>
                <a:tab pos="450850" algn="l"/>
              </a:tabLst>
            </a:pPr>
            <a:r>
              <a:rPr dirty="0" sz="1800">
                <a:latin typeface="Times New Roman"/>
                <a:cs typeface="Times New Roman"/>
              </a:rPr>
              <a:t>G.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Erni-</a:t>
            </a:r>
            <a:r>
              <a:rPr dirty="0" sz="1800">
                <a:latin typeface="Times New Roman"/>
                <a:cs typeface="Times New Roman"/>
              </a:rPr>
              <a:t>Cassola,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al.,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“AI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Environmental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Microplastic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Analysis,”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Journal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Spectroscopy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Imaging,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2020.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Nirajitha Manokaran</dc:creator>
  <dcterms:created xsi:type="dcterms:W3CDTF">2026-04-29T14:19:21Z</dcterms:created>
  <dcterms:modified xsi:type="dcterms:W3CDTF">2026-04-29T14:19:21Z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2026-04-29T00:00:00Z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2026-04-29T00:00:00Z</vt:filetime>
  </property>
  <property fmtid="{D5CDD505-2E9C-101B-9397-08002B2CF9AE}" pid="6" name="Producer">
    <vt:lpwstr>Microsoft® PowerPoint® 2024</vt:lpwstr>
  </property>
</Properties>
</file>